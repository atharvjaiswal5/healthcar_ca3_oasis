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and the student team. Confirm that the workbook used is the approved Moodle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 presentation prompt: explain this slide in your own words and be ready to describe the code and data behind each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 presentation prompt: explain this slide in your own words and be ready to describe the code and data behind each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 presentation prompt: explain this slide in your own words and be ready to describe the code and data behind each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 presentation prompt: explain this slide in your own words and be ready to describe the code and data behind each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 presentation prompt: explain this slide in your own words and be ready to describe the code and data behind each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 presentation prompt: explain this slide in your own words and be ready to describe the code and data behind each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 presentation prompt: explain this slide in your own words and be ready to describe the code and data behind each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 presentation prompt: explain this slide in your own words and be ready to describe the code and data behind each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 presentation prompt: explain this slide in your own words and be ready to describe the code and data behind each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 presentation prompt: explain this slide in your own words and be ready to describe the code and data behind each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 presentation prompt: explain this slide in your own words and be ready to describe the code and data behind each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 presentation prompt: explain this slide in your own words and be ready to describe the code and data behind each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1CA8F22-3423-49F8-958E-96F5F6ABC2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B7571-BBA2-4C74-B10E-2FEE7D64B478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29" lnSpcReduction="10000"/>
          </a:bodyPr>
          <a:lstStyle/>
          <a:p>
            <a:pPr algn="ctr">
              <a:defRPr sz="1725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725" b="1" dirty="0">
                <a:solidFill>
                  <a:srgbClr val="FF0000"/>
                </a:solidFill>
                <a:latin typeface="Helvetica"/>
                <a:ea typeface="Helvetica"/>
                <a:cs typeface="Helvetica"/>
              </a:rPr>
              <a:t>SYMBIOSIS INSTITUTE OF TECHNOLOGY, NAGPUR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00E874-60C3-4B0B-8554-237C83C6B622}"/>
              </a:ext>
            </a:extLst>
          </p:cNvPr>
          <p:cNvSpPr>
            <a:spLocks noGrp="1"/>
          </p:cNvSpPr>
          <p:nvPr/>
        </p:nvSpPr>
        <p:spPr>
          <a:xfrm>
            <a:off x="762000" y="6667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55"/>
          </a:bodyPr>
          <a:lstStyle/>
          <a:p>
            <a:pPr algn="ctr">
              <a:defRPr sz="1350" b="1">
                <a:solidFill>
                  <a:srgbClr val="202020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02020"/>
                </a:solidFill>
                <a:latin typeface="Helvetica"/>
                <a:ea typeface="Helvetica"/>
                <a:cs typeface="Helvetica"/>
              </a:rPr>
              <a:t>Symbiosis International (Deemed University)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1EBD25-E78D-42B3-AFCC-2544304F438D}"/>
              </a:ext>
            </a:extLst>
          </p:cNvPr>
          <p:cNvSpPr>
            <a:spLocks noGrp="1"/>
          </p:cNvSpPr>
          <p:nvPr/>
        </p:nvSpPr>
        <p:spPr>
          <a:xfrm>
            <a:off x="762000" y="933450"/>
            <a:ext cx="106680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167"/>
          </a:bodyPr>
          <a:lstStyle/>
          <a:p>
            <a:pPr algn="ctr">
              <a:defRPr sz="9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(Established under section 3 of the UGC Act, 1956)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50EA08-C024-498E-8625-F562633B829D}"/>
              </a:ext>
            </a:extLst>
          </p:cNvPr>
          <p:cNvSpPr>
            <a:spLocks noGrp="1"/>
          </p:cNvSpPr>
          <p:nvPr/>
        </p:nvSpPr>
        <p:spPr>
          <a:xfrm>
            <a:off x="762000" y="1143000"/>
            <a:ext cx="106680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167"/>
          </a:bodyPr>
          <a:lstStyle/>
          <a:p>
            <a:pPr algn="ctr">
              <a:defRPr sz="9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Re-accredited by NAAC with A++ Grade | Awarded Category I by UGC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73010B-DEDB-4D0A-A37B-DE37AC96181E}"/>
              </a:ext>
            </a:extLst>
          </p:cNvPr>
          <p:cNvSpPr>
            <a:spLocks noGrp="1"/>
          </p:cNvSpPr>
          <p:nvPr/>
        </p:nvSpPr>
        <p:spPr>
          <a:xfrm>
            <a:off x="762000" y="13525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ctr">
              <a:defRPr sz="975" b="1">
                <a:solidFill>
                  <a:srgbClr val="1478B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8B8"/>
                </a:solidFill>
                <a:latin typeface="Helvetica"/>
                <a:ea typeface="Helvetica"/>
                <a:cs typeface="Helvetica"/>
              </a:rPr>
              <a:t>Founder: Prof. Dr. S. B. Mujumdar, M.Sc., Ph.D.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B637D7-F4A6-4D51-B3C3-82C641AAE818}"/>
              </a:ext>
            </a:extLst>
          </p:cNvPr>
          <p:cNvSpPr>
            <a:spLocks noGrp="1"/>
          </p:cNvSpPr>
          <p:nvPr/>
        </p:nvSpPr>
        <p:spPr>
          <a:xfrm>
            <a:off x="904875" y="1676400"/>
            <a:ext cx="10382250" cy="9525"/>
          </a:xfrm>
          <a:prstGeom prst="rect">
            <a:avLst/>
          </a:prstGeom>
          <a:solidFill>
            <a:srgbClr val="D9E0E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FD2672-9F91-452B-9BA3-707B646EEB22}"/>
              </a:ext>
            </a:extLst>
          </p:cNvPr>
          <p:cNvSpPr>
            <a:spLocks noGrp="1"/>
          </p:cNvSpPr>
          <p:nvPr/>
        </p:nvSpPr>
        <p:spPr>
          <a:xfrm>
            <a:off x="857250" y="1943100"/>
            <a:ext cx="104775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294"/>
          </a:bodyPr>
          <a:lstStyle/>
          <a:p>
            <a:pPr algn="ctr">
              <a:defRPr sz="127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HEALTHCARE ANALYTICS MINI PROJECT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D8FF5E-A4B4-4254-AFDB-8724A4B8A8D6}"/>
              </a:ext>
            </a:extLst>
          </p:cNvPr>
          <p:cNvSpPr>
            <a:spLocks noGrp="1"/>
          </p:cNvSpPr>
          <p:nvPr/>
        </p:nvSpPr>
        <p:spPr>
          <a:xfrm>
            <a:off x="904875" y="2400300"/>
            <a:ext cx="10382250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225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3225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Cognitive Status Classification Using OASIS-1 Clinical and MRI Measures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C98EEF-3DC4-45A3-89C8-4E2FD36D77F0}"/>
              </a:ext>
            </a:extLst>
          </p:cNvPr>
          <p:cNvSpPr>
            <a:spLocks noGrp="1"/>
          </p:cNvSpPr>
          <p:nvPr/>
        </p:nvSpPr>
        <p:spPr>
          <a:xfrm>
            <a:off x="904875" y="36004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 algn="ctr">
              <a:def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Editable project presentation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12C51E-8A2C-4D79-A43C-987BD94EDF1B}"/>
              </a:ext>
            </a:extLst>
          </p:cNvPr>
          <p:cNvSpPr>
            <a:spLocks noGrp="1"/>
          </p:cNvSpPr>
          <p:nvPr/>
        </p:nvSpPr>
        <p:spPr>
          <a:xfrm>
            <a:off x="952500" y="41719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/>
          </a:bodyPr>
          <a:lstStyle/>
          <a:p>
            <a:pPr algn="ctr">
              <a:defRPr sz="1425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Atharv Jaiswal | PRN 23070521023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22C6CD-8580-43D1-9B14-6DCE6D64F279}"/>
              </a:ext>
            </a:extLst>
          </p:cNvPr>
          <p:cNvSpPr>
            <a:spLocks noGrp="1"/>
          </p:cNvSpPr>
          <p:nvPr/>
        </p:nvSpPr>
        <p:spPr>
          <a:xfrm>
            <a:off x="952500" y="44958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/>
          </a:bodyPr>
          <a:lstStyle/>
          <a:p>
            <a:pPr algn="ctr">
              <a:defRPr sz="1425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Shreya Bansal | PRN 23070521144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CB0035-39B5-44EA-BB90-218530FF3CCE}"/>
              </a:ext>
            </a:extLst>
          </p:cNvPr>
          <p:cNvSpPr>
            <a:spLocks noGrp="1"/>
          </p:cNvSpPr>
          <p:nvPr/>
        </p:nvSpPr>
        <p:spPr>
          <a:xfrm>
            <a:off x="952500" y="4981575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/>
          </a:bodyPr>
          <a:lstStyle/>
          <a:p>
            <a:pPr algn="ctr">
              <a:def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Healthcare Analytics mentors: Dr. Bhupesh and Dr. Prerna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4B713-DE0C-4C1D-85A8-DD318CA7A6B2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107015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B111A06-C96E-4DF8-B078-07482AF271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149213-AA2F-4B3B-8846-37DB751245E6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/>
          </a:bodyPr>
          <a:lstStyle/>
          <a:p>
            <a:pPr algn="l">
              <a:def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HEALTHCARE ANALYTICS | MINI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010F19-A3B1-407B-997A-43617BE5FAD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Project question and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7F43E5-6784-4A53-81FC-2C5DA4DC1E42}"/>
              </a:ext>
            </a:extLst>
          </p:cNvPr>
          <p:cNvSpPr>
            <a:spLocks noGrp="1"/>
          </p:cNvSpPr>
          <p:nvPr/>
        </p:nvSpPr>
        <p:spPr>
          <a:xfrm>
            <a:off x="590550" y="6191250"/>
            <a:ext cx="11010900" cy="9525"/>
          </a:xfrm>
          <a:prstGeom prst="rect">
            <a:avLst/>
          </a:prstGeom>
          <a:solidFill>
            <a:srgbClr val="D9E0E8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6B3DE6-6283-44D1-A623-372DBB8DCDE4}"/>
              </a:ext>
            </a:extLst>
          </p:cNvPr>
          <p:cNvSpPr>
            <a:spLocks noGrp="1"/>
          </p:cNvSpPr>
          <p:nvPr/>
        </p:nvSpPr>
        <p:spPr>
          <a:xfrm>
            <a:off x="590550" y="6286500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SIT Nagpur | OASIS CDR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D5429C-5928-49F9-979B-2B91787C43EC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610CBD-D82F-4793-BC2B-99F1E48877EF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1057275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Can demographic information and MRI-derived measures distinguish records with CDR = 0 from records with CDR &gt; 0?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EF21E2-7D4C-4D51-A499-109A77E21BC6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4953000" cy="1952625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D57060-82B3-42B4-819B-01D32AC41B86}"/>
              </a:ext>
            </a:extLst>
          </p:cNvPr>
          <p:cNvSpPr>
            <a:spLocks noGrp="1"/>
          </p:cNvSpPr>
          <p:nvPr/>
        </p:nvSpPr>
        <p:spPr>
          <a:xfrm>
            <a:off x="1028700" y="3086100"/>
            <a:ext cx="4381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 algn="l">
              <a:defRPr sz="1650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Target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E6DB4B-F1FD-4176-9B1F-03227CB9CD66}"/>
              </a:ext>
            </a:extLst>
          </p:cNvPr>
          <p:cNvSpPr>
            <a:spLocks noGrp="1"/>
          </p:cNvSpPr>
          <p:nvPr/>
        </p:nvSpPr>
        <p:spPr>
          <a:xfrm>
            <a:off x="1028700" y="3524250"/>
            <a:ext cx="4191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973"/>
          </a:bodyPr>
          <a:lstStyle/>
          <a:p>
            <a:pPr algn="l">
              <a:defRPr sz="18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Recorded Clinical Dementia Rating (CDR) group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EAE970-21B6-4E18-8AB9-0F5208450C9A}"/>
              </a:ext>
            </a:extLst>
          </p:cNvPr>
          <p:cNvSpPr>
            <a:spLocks noGrp="1"/>
          </p:cNvSpPr>
          <p:nvPr/>
        </p:nvSpPr>
        <p:spPr>
          <a:xfrm>
            <a:off x="1028700" y="401955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 = reference group | &gt; 0 = positive class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4C7F54-B4BE-41AB-B502-0ABB947C2715}"/>
              </a:ext>
            </a:extLst>
          </p:cNvPr>
          <p:cNvSpPr>
            <a:spLocks noGrp="1"/>
          </p:cNvSpPr>
          <p:nvPr/>
        </p:nvSpPr>
        <p:spPr>
          <a:xfrm>
            <a:off x="6048375" y="2876550"/>
            <a:ext cx="5334000" cy="1952625"/>
          </a:xfrm>
          <a:prstGeom prst="rect">
            <a:avLst/>
          </a:prstGeom>
          <a:solidFill>
            <a:srgbClr val="FFF1F3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C40039-D522-4CAA-ABD0-D87433E8CC3E}"/>
              </a:ext>
            </a:extLst>
          </p:cNvPr>
          <p:cNvSpPr>
            <a:spLocks noGrp="1"/>
          </p:cNvSpPr>
          <p:nvPr/>
        </p:nvSpPr>
        <p:spPr>
          <a:xfrm>
            <a:off x="6305550" y="3086100"/>
            <a:ext cx="466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 algn="l">
              <a:defRPr sz="1650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Scope boundary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ACB4AE-FC59-47AA-A0DE-82D396D7DCB6}"/>
              </a:ext>
            </a:extLst>
          </p:cNvPr>
          <p:cNvSpPr>
            <a:spLocks noGrp="1"/>
          </p:cNvSpPr>
          <p:nvPr/>
        </p:nvSpPr>
        <p:spPr>
          <a:xfrm>
            <a:off x="6305550" y="35242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Cross-sectional classification of recorded labels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AC43F6-E30D-4EE2-9536-8EEFB49708CF}"/>
              </a:ext>
            </a:extLst>
          </p:cNvPr>
          <p:cNvSpPr>
            <a:spLocks noGrp="1"/>
          </p:cNvSpPr>
          <p:nvPr/>
        </p:nvSpPr>
        <p:spPr>
          <a:xfrm>
            <a:off x="6305550" y="4057650"/>
            <a:ext cx="4572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Not future dementia prediction or a clinical diagnostic system.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BEE38B-4D66-411B-9A6A-43C695003E52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Primary comparison: demographics, then MRI, then contemporaneous MMSE.</a:t>
            </a:r>
          </a:p>
        </p:txBody>
      </p:sp>
    </p:spTree>
    <p:extLst>
      <p:ext uri="{BB962C8B-B14F-4D97-AF65-F5344CB8AC3E}">
        <p14:creationId xmlns:p14="http://schemas.microsoft.com/office/powerpoint/2010/main" val="1198936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AAD7E23-5623-46CC-93EB-60AAE4676F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7348EA-D8A2-4B84-863D-C3D5F4CB54B3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/>
          </a:bodyPr>
          <a:lstStyle/>
          <a:p>
            <a:pPr algn="l">
              <a:def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HEALTHCARE ANALYTICS | MINI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3334CF-E376-40E1-9186-FB467F1C1BF3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Workbook audit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3CADEF-A28B-4E9E-84A5-309019781D8B}"/>
              </a:ext>
            </a:extLst>
          </p:cNvPr>
          <p:cNvSpPr>
            <a:spLocks noGrp="1"/>
          </p:cNvSpPr>
          <p:nvPr/>
        </p:nvSpPr>
        <p:spPr>
          <a:xfrm>
            <a:off x="590550" y="6191250"/>
            <a:ext cx="11010900" cy="9525"/>
          </a:xfrm>
          <a:prstGeom prst="rect">
            <a:avLst/>
          </a:prstGeom>
          <a:solidFill>
            <a:srgbClr val="D9E0E8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CB0266-58F8-43AF-BF44-4E6E84853515}"/>
              </a:ext>
            </a:extLst>
          </p:cNvPr>
          <p:cNvSpPr>
            <a:spLocks noGrp="1"/>
          </p:cNvSpPr>
          <p:nvPr/>
        </p:nvSpPr>
        <p:spPr>
          <a:xfrm>
            <a:off x="590550" y="6286500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SIT Nagpur | OASIS CDR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969C87-D5A9-4CF3-ACB4-5078DDA96F9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74B153-5D89-4CF5-8103-0322BE40D7FD}"/>
              </a:ext>
            </a:extLst>
          </p:cNvPr>
          <p:cNvSpPr>
            <a:spLocks noGrp="1"/>
          </p:cNvSpPr>
          <p:nvPr/>
        </p:nvSpPr>
        <p:spPr>
          <a:xfrm>
            <a:off x="704850" y="1504950"/>
            <a:ext cx="2000250" cy="1190625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603BF0-E5C1-4DA2-8B8F-70B6510F90C2}"/>
              </a:ext>
            </a:extLst>
          </p:cNvPr>
          <p:cNvSpPr>
            <a:spLocks noGrp="1"/>
          </p:cNvSpPr>
          <p:nvPr/>
        </p:nvSpPr>
        <p:spPr>
          <a:xfrm>
            <a:off x="847725" y="1676400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925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925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436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783F0C-D687-428A-8FBC-90A955BFB86A}"/>
              </a:ext>
            </a:extLst>
          </p:cNvPr>
          <p:cNvSpPr>
            <a:spLocks noGrp="1"/>
          </p:cNvSpPr>
          <p:nvPr/>
        </p:nvSpPr>
        <p:spPr>
          <a:xfrm>
            <a:off x="819150" y="2238375"/>
            <a:ext cx="17716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session rows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1A8D2-49C1-421B-8D82-E3693B9690FC}"/>
              </a:ext>
            </a:extLst>
          </p:cNvPr>
          <p:cNvSpPr>
            <a:spLocks noGrp="1"/>
          </p:cNvSpPr>
          <p:nvPr/>
        </p:nvSpPr>
        <p:spPr>
          <a:xfrm>
            <a:off x="2971800" y="1504950"/>
            <a:ext cx="2000250" cy="1190625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66F016-AFD7-40C5-86AB-545605A3B9EE}"/>
              </a:ext>
            </a:extLst>
          </p:cNvPr>
          <p:cNvSpPr>
            <a:spLocks noGrp="1"/>
          </p:cNvSpPr>
          <p:nvPr/>
        </p:nvSpPr>
        <p:spPr>
          <a:xfrm>
            <a:off x="3114675" y="1676400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925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925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416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86C81C-91DA-4298-8403-AF7A9CB7D296}"/>
              </a:ext>
            </a:extLst>
          </p:cNvPr>
          <p:cNvSpPr>
            <a:spLocks noGrp="1"/>
          </p:cNvSpPr>
          <p:nvPr/>
        </p:nvSpPr>
        <p:spPr>
          <a:xfrm>
            <a:off x="3086100" y="2238375"/>
            <a:ext cx="17716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participant IDs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CAF534-7F97-45E2-9010-B3FD2F2A9117}"/>
              </a:ext>
            </a:extLst>
          </p:cNvPr>
          <p:cNvSpPr>
            <a:spLocks noGrp="1"/>
          </p:cNvSpPr>
          <p:nvPr/>
        </p:nvSpPr>
        <p:spPr>
          <a:xfrm>
            <a:off x="5238750" y="1504950"/>
            <a:ext cx="2000250" cy="1190625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FF916-74F6-4282-9A23-FEA732885EC5}"/>
              </a:ext>
            </a:extLst>
          </p:cNvPr>
          <p:cNvSpPr>
            <a:spLocks noGrp="1"/>
          </p:cNvSpPr>
          <p:nvPr/>
        </p:nvSpPr>
        <p:spPr>
          <a:xfrm>
            <a:off x="5381625" y="1676400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925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925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8B5D29-BF95-45DB-B8C8-CCD10CBE60A7}"/>
              </a:ext>
            </a:extLst>
          </p:cNvPr>
          <p:cNvSpPr>
            <a:spLocks noGrp="1"/>
          </p:cNvSpPr>
          <p:nvPr/>
        </p:nvSpPr>
        <p:spPr>
          <a:xfrm>
            <a:off x="5353050" y="2238375"/>
            <a:ext cx="17716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attributes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E90560-0978-435B-93A0-89F88CEB446A}"/>
              </a:ext>
            </a:extLst>
          </p:cNvPr>
          <p:cNvSpPr>
            <a:spLocks noGrp="1"/>
          </p:cNvSpPr>
          <p:nvPr/>
        </p:nvSpPr>
        <p:spPr>
          <a:xfrm>
            <a:off x="7505700" y="1504950"/>
            <a:ext cx="2000250" cy="1190625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EBCE11-5F13-4A15-B856-0F875D099EE8}"/>
              </a:ext>
            </a:extLst>
          </p:cNvPr>
          <p:cNvSpPr>
            <a:spLocks noGrp="1"/>
          </p:cNvSpPr>
          <p:nvPr/>
        </p:nvSpPr>
        <p:spPr>
          <a:xfrm>
            <a:off x="7648575" y="1676400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925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925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235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8B9BE-2B7C-4AA9-8C06-742E4A2A0488}"/>
              </a:ext>
            </a:extLst>
          </p:cNvPr>
          <p:cNvSpPr>
            <a:spLocks noGrp="1"/>
          </p:cNvSpPr>
          <p:nvPr/>
        </p:nvSpPr>
        <p:spPr>
          <a:xfrm>
            <a:off x="7620000" y="2238375"/>
            <a:ext cx="17716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known CDR rows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D6C1FD-95ED-480F-BCDE-DFDE54DB8C74}"/>
              </a:ext>
            </a:extLst>
          </p:cNvPr>
          <p:cNvSpPr>
            <a:spLocks noGrp="1"/>
          </p:cNvSpPr>
          <p:nvPr/>
        </p:nvSpPr>
        <p:spPr>
          <a:xfrm>
            <a:off x="9772650" y="1504950"/>
            <a:ext cx="2000250" cy="1190625"/>
          </a:xfrm>
          <a:prstGeom prst="rect">
            <a:avLst/>
          </a:prstGeom>
          <a:solidFill>
            <a:srgbClr val="FFF1F3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D57BAF-72BA-4509-B9EB-96E4C1E63094}"/>
              </a:ext>
            </a:extLst>
          </p:cNvPr>
          <p:cNvSpPr>
            <a:spLocks noGrp="1"/>
          </p:cNvSpPr>
          <p:nvPr/>
        </p:nvSpPr>
        <p:spPr>
          <a:xfrm>
            <a:off x="9915525" y="1676400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925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2925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201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D54A63-C297-4CFF-B052-6A390EED9D6F}"/>
              </a:ext>
            </a:extLst>
          </p:cNvPr>
          <p:cNvSpPr>
            <a:spLocks noGrp="1"/>
          </p:cNvSpPr>
          <p:nvPr/>
        </p:nvSpPr>
        <p:spPr>
          <a:xfrm>
            <a:off x="9886950" y="2238375"/>
            <a:ext cx="17716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missing CDR rows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498DD8-7AFD-4385-9556-BF6F11FF34D8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10572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Among the 235 records with known CDR, all are from distinct participant IDs.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23E6DC-0DF4-4242-806E-4B6932C84EF2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4762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860"/>
          </a:bodyPr>
          <a:lstStyle/>
          <a:p>
            <a:pPr algn="l">
              <a:def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Exact duplicate rows: 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411CE5-DECA-4DC9-B021-D4ADB77BA61A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6667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860"/>
          </a:bodyPr>
          <a:lstStyle/>
          <a:p>
            <a:pPr algn="l">
              <a:def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Known CDR: 135 at 0 and 100 above 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A8871C-E505-4459-905B-AA2FD48BA384}"/>
              </a:ext>
            </a:extLst>
          </p:cNvPr>
          <p:cNvSpPr>
            <a:spLocks noGrp="1"/>
          </p:cNvSpPr>
          <p:nvPr/>
        </p:nvSpPr>
        <p:spPr>
          <a:xfrm>
            <a:off x="781050" y="4514850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SES missing in 19 target-known rows. Delay is unavailable in target-known rows; Hand is constant.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6DB8F2-DBA0-4C76-B595-3B2DD917F7B5}"/>
              </a:ext>
            </a:extLst>
          </p:cNvPr>
          <p:cNvSpPr>
            <a:spLocks noGrp="1"/>
          </p:cNvSpPr>
          <p:nvPr/>
        </p:nvSpPr>
        <p:spPr>
          <a:xfrm>
            <a:off x="781050" y="5276850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endParaRPr sz="1350" b="1" dirty="0">
              <a:solidFill>
                <a:srgbClr val="EF476F"/>
              </a:solidFill>
              <a:latin typeface="Helvetica"/>
              <a:ea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5297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F0BCA43-8AE9-475D-BEB1-D8876CE626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7F1402-F19E-415B-B6CC-60996260018E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/>
          </a:bodyPr>
          <a:lstStyle/>
          <a:p>
            <a:pPr algn="l">
              <a:def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HEALTHCARE ANALYTICS | MINI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60E435-8BB1-4C6D-8EF9-C2220F35B4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Target availability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6E9A15-9059-409D-8923-0382897BA150}"/>
              </a:ext>
            </a:extLst>
          </p:cNvPr>
          <p:cNvSpPr>
            <a:spLocks noGrp="1"/>
          </p:cNvSpPr>
          <p:nvPr/>
        </p:nvSpPr>
        <p:spPr>
          <a:xfrm>
            <a:off x="590550" y="6191250"/>
            <a:ext cx="11010900" cy="9525"/>
          </a:xfrm>
          <a:prstGeom prst="rect">
            <a:avLst/>
          </a:prstGeom>
          <a:solidFill>
            <a:srgbClr val="D9E0E8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F20D18-A0BE-476F-AE2C-88896AC96635}"/>
              </a:ext>
            </a:extLst>
          </p:cNvPr>
          <p:cNvSpPr>
            <a:spLocks noGrp="1"/>
          </p:cNvSpPr>
          <p:nvPr/>
        </p:nvSpPr>
        <p:spPr>
          <a:xfrm>
            <a:off x="590550" y="6286500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SIT Nagpur | OASIS CDR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97F299-B734-4456-A8BC-99D8B2680B99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167BB2-725B-4ACA-9B7D-EA4F496C5D17}"/>
              </a:ext>
            </a:extLst>
          </p:cNvPr>
          <p:cNvSpPr>
            <a:spLocks noGrp="1"/>
          </p:cNvSpPr>
          <p:nvPr/>
        </p:nvSpPr>
        <p:spPr>
          <a:xfrm>
            <a:off x="781050" y="1285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The target cannot be assigned to 201 rows because CDR is missing.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62A5C8-5B2B-411F-A877-DD0EAB30BA5B}"/>
              </a:ext>
            </a:extLst>
          </p:cNvPr>
          <p:cNvSpPr>
            <a:spLocks noGrp="1"/>
          </p:cNvSpPr>
          <p:nvPr/>
        </p:nvSpPr>
        <p:spPr>
          <a:xfrm>
            <a:off x="1047750" y="1943100"/>
            <a:ext cx="2190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 algn="l">
              <a:def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CDR = 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7CA43E-D8DB-4048-84E8-F129884D6120}"/>
              </a:ext>
            </a:extLst>
          </p:cNvPr>
          <p:cNvSpPr>
            <a:spLocks noGrp="1"/>
          </p:cNvSpPr>
          <p:nvPr/>
        </p:nvSpPr>
        <p:spPr>
          <a:xfrm>
            <a:off x="3238500" y="1981200"/>
            <a:ext cx="3064213" cy="171450"/>
          </a:xfrm>
          <a:prstGeom prst="rect">
            <a:avLst/>
          </a:prstGeom>
          <a:solidFill>
            <a:srgbClr val="3A86FF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94D546-EA53-41E8-B6F6-9CFDAE673E45}"/>
              </a:ext>
            </a:extLst>
          </p:cNvPr>
          <p:cNvSpPr>
            <a:spLocks noGrp="1"/>
          </p:cNvSpPr>
          <p:nvPr/>
        </p:nvSpPr>
        <p:spPr>
          <a:xfrm>
            <a:off x="8686800" y="1943100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135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5CE217-550A-4D42-85D3-046608F5159F}"/>
              </a:ext>
            </a:extLst>
          </p:cNvPr>
          <p:cNvSpPr>
            <a:spLocks noGrp="1"/>
          </p:cNvSpPr>
          <p:nvPr/>
        </p:nvSpPr>
        <p:spPr>
          <a:xfrm>
            <a:off x="1047750" y="2543175"/>
            <a:ext cx="2190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 algn="l">
              <a:def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CDR &gt; 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47D860-D043-48BE-9C5B-3E173D6DDF97}"/>
              </a:ext>
            </a:extLst>
          </p:cNvPr>
          <p:cNvSpPr>
            <a:spLocks noGrp="1"/>
          </p:cNvSpPr>
          <p:nvPr/>
        </p:nvSpPr>
        <p:spPr>
          <a:xfrm>
            <a:off x="3238500" y="2581275"/>
            <a:ext cx="2269787" cy="17145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F35E5C-4981-48AD-BDC4-2EECA474831A}"/>
              </a:ext>
            </a:extLst>
          </p:cNvPr>
          <p:cNvSpPr>
            <a:spLocks noGrp="1"/>
          </p:cNvSpPr>
          <p:nvPr/>
        </p:nvSpPr>
        <p:spPr>
          <a:xfrm>
            <a:off x="8686800" y="2543175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100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F6D440-D310-4A92-BC0F-5E485F6416C0}"/>
              </a:ext>
            </a:extLst>
          </p:cNvPr>
          <p:cNvSpPr>
            <a:spLocks noGrp="1"/>
          </p:cNvSpPr>
          <p:nvPr/>
        </p:nvSpPr>
        <p:spPr>
          <a:xfrm>
            <a:off x="1047750" y="3143250"/>
            <a:ext cx="2190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 algn="l">
              <a:def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CDR missing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CF66C8-C4A4-4E21-8742-14351D432F22}"/>
              </a:ext>
            </a:extLst>
          </p:cNvPr>
          <p:cNvSpPr>
            <a:spLocks noGrp="1"/>
          </p:cNvSpPr>
          <p:nvPr/>
        </p:nvSpPr>
        <p:spPr>
          <a:xfrm>
            <a:off x="3238500" y="3181350"/>
            <a:ext cx="4562272" cy="171450"/>
          </a:xfrm>
          <a:prstGeom prst="rect">
            <a:avLst/>
          </a:prstGeom>
          <a:solidFill>
            <a:srgbClr val="AAB4C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21F845-5B8C-43C4-9F47-CE313AD2C6A1}"/>
              </a:ext>
            </a:extLst>
          </p:cNvPr>
          <p:cNvSpPr>
            <a:spLocks noGrp="1"/>
          </p:cNvSpPr>
          <p:nvPr/>
        </p:nvSpPr>
        <p:spPr>
          <a:xfrm>
            <a:off x="8686800" y="3143250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201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502B59-6293-4F23-AC6C-1E028CC16E11}"/>
              </a:ext>
            </a:extLst>
          </p:cNvPr>
          <p:cNvSpPr>
            <a:spLocks noGrp="1"/>
          </p:cNvSpPr>
          <p:nvPr/>
        </p:nvSpPr>
        <p:spPr>
          <a:xfrm>
            <a:off x="781050" y="4048125"/>
            <a:ext cx="10591800" cy="1047750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1FCB8D-2BB0-46AF-982D-05006839D96A}"/>
              </a:ext>
            </a:extLst>
          </p:cNvPr>
          <p:cNvSpPr>
            <a:spLocks noGrp="1"/>
          </p:cNvSpPr>
          <p:nvPr/>
        </p:nvSpPr>
        <p:spPr>
          <a:xfrm>
            <a:off x="990600" y="4257675"/>
            <a:ext cx="10172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 algn="l">
              <a:defRPr sz="1425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Known CDR &gt; 0 combines 70 scores of 0.5, 28 scores of 1, and 2 scores of 2.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293DF7-D484-4375-BD32-69649D3543B8}"/>
              </a:ext>
            </a:extLst>
          </p:cNvPr>
          <p:cNvSpPr>
            <a:spLocks noGrp="1"/>
          </p:cNvSpPr>
          <p:nvPr/>
        </p:nvSpPr>
        <p:spPr>
          <a:xfrm>
            <a:off x="990600" y="4638675"/>
            <a:ext cx="101727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294"/>
          </a:bodyPr>
          <a:lstStyle/>
          <a:p>
            <a:pPr algn="l">
              <a:def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Missing outcomes were excluded rather than imputed.</a:t>
            </a:r>
          </a:p>
        </p:txBody>
      </p:sp>
    </p:spTree>
    <p:extLst>
      <p:ext uri="{BB962C8B-B14F-4D97-AF65-F5344CB8AC3E}">
        <p14:creationId xmlns:p14="http://schemas.microsoft.com/office/powerpoint/2010/main" val="1944686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352726D-EFAC-4E45-B8AB-83D5918663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7DD7EA-C7A9-4FEE-BDF1-53B0C5C743C8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/>
          </a:bodyPr>
          <a:lstStyle/>
          <a:p>
            <a:pPr algn="l">
              <a:def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HEALTHCARE ANALYTICS | MINI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3D78DB-B661-4A31-87F9-4B3A13EF05B8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Preprocessing and split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912D38-0217-4107-B5FB-7788E5C3BD08}"/>
              </a:ext>
            </a:extLst>
          </p:cNvPr>
          <p:cNvSpPr>
            <a:spLocks noGrp="1"/>
          </p:cNvSpPr>
          <p:nvPr/>
        </p:nvSpPr>
        <p:spPr>
          <a:xfrm>
            <a:off x="590550" y="6191250"/>
            <a:ext cx="11010900" cy="9525"/>
          </a:xfrm>
          <a:prstGeom prst="rect">
            <a:avLst/>
          </a:prstGeom>
          <a:solidFill>
            <a:srgbClr val="D9E0E8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6384A3-AA4B-4C33-AB27-EAB2518A8047}"/>
              </a:ext>
            </a:extLst>
          </p:cNvPr>
          <p:cNvSpPr>
            <a:spLocks noGrp="1"/>
          </p:cNvSpPr>
          <p:nvPr/>
        </p:nvSpPr>
        <p:spPr>
          <a:xfrm>
            <a:off x="590550" y="6286500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SIT Nagpur | OASIS CDR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AD219-FE56-4E10-AA72-7D6F4F61B40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8FC4A7-8731-4D2B-8BD9-3A6EB2F4E423}"/>
              </a:ext>
            </a:extLst>
          </p:cNvPr>
          <p:cNvSpPr>
            <a:spLocks noGrp="1"/>
          </p:cNvSpPr>
          <p:nvPr/>
        </p:nvSpPr>
        <p:spPr>
          <a:xfrm>
            <a:off x="809625" y="1362075"/>
            <a:ext cx="571500" cy="476250"/>
          </a:xfrm>
          <a:prstGeom prst="rect">
            <a:avLst/>
          </a:prstGeom>
          <a:solidFill>
            <a:srgbClr val="3A86FF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898EC2-A3AF-4F78-BC9D-FDFEE9BC177F}"/>
              </a:ext>
            </a:extLst>
          </p:cNvPr>
          <p:cNvSpPr>
            <a:spLocks noGrp="1"/>
          </p:cNvSpPr>
          <p:nvPr/>
        </p:nvSpPr>
        <p:spPr>
          <a:xfrm>
            <a:off x="809625" y="1409700"/>
            <a:ext cx="571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271485-A02A-4956-89CF-82AD1562EE22}"/>
              </a:ext>
            </a:extLst>
          </p:cNvPr>
          <p:cNvSpPr>
            <a:spLocks noGrp="1"/>
          </p:cNvSpPr>
          <p:nvPr/>
        </p:nvSpPr>
        <p:spPr>
          <a:xfrm>
            <a:off x="1666875" y="1381125"/>
            <a:ext cx="847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Read supplied workbook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A3BB34-6625-4EAA-8A8C-EE725B10D43A}"/>
              </a:ext>
            </a:extLst>
          </p:cNvPr>
          <p:cNvSpPr>
            <a:spLocks noGrp="1"/>
          </p:cNvSpPr>
          <p:nvPr/>
        </p:nvSpPr>
        <p:spPr>
          <a:xfrm>
            <a:off x="809625" y="2076450"/>
            <a:ext cx="571500" cy="47625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68AC9D-7E30-41BC-8EFF-37A1BF25CF4B}"/>
              </a:ext>
            </a:extLst>
          </p:cNvPr>
          <p:cNvSpPr>
            <a:spLocks noGrp="1"/>
          </p:cNvSpPr>
          <p:nvPr/>
        </p:nvSpPr>
        <p:spPr>
          <a:xfrm>
            <a:off x="809625" y="2124075"/>
            <a:ext cx="571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3F1D2D-B129-42CE-9428-22F996902CA7}"/>
              </a:ext>
            </a:extLst>
          </p:cNvPr>
          <p:cNvSpPr>
            <a:spLocks noGrp="1"/>
          </p:cNvSpPr>
          <p:nvPr/>
        </p:nvSpPr>
        <p:spPr>
          <a:xfrm>
            <a:off x="1666875" y="2095500"/>
            <a:ext cx="847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Keep observed CDR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C28254-970F-4674-9CD1-54AD9FC6D3C4}"/>
              </a:ext>
            </a:extLst>
          </p:cNvPr>
          <p:cNvSpPr>
            <a:spLocks noGrp="1"/>
          </p:cNvSpPr>
          <p:nvPr/>
        </p:nvSpPr>
        <p:spPr>
          <a:xfrm>
            <a:off x="809625" y="2790825"/>
            <a:ext cx="571500" cy="47625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311D3A-12AB-4A19-BD76-91F064E4EBB6}"/>
              </a:ext>
            </a:extLst>
          </p:cNvPr>
          <p:cNvSpPr>
            <a:spLocks noGrp="1"/>
          </p:cNvSpPr>
          <p:nvPr/>
        </p:nvSpPr>
        <p:spPr>
          <a:xfrm>
            <a:off x="809625" y="2838450"/>
            <a:ext cx="571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C561CF-EC8D-4F0D-9540-1BA0A20F629E}"/>
              </a:ext>
            </a:extLst>
          </p:cNvPr>
          <p:cNvSpPr>
            <a:spLocks noGrp="1"/>
          </p:cNvSpPr>
          <p:nvPr/>
        </p:nvSpPr>
        <p:spPr>
          <a:xfrm>
            <a:off x="1666875" y="2809875"/>
            <a:ext cx="847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Encode CDR = 0 vs &gt; 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710852-1C83-442A-8C14-678564B65916}"/>
              </a:ext>
            </a:extLst>
          </p:cNvPr>
          <p:cNvSpPr>
            <a:spLocks noGrp="1"/>
          </p:cNvSpPr>
          <p:nvPr/>
        </p:nvSpPr>
        <p:spPr>
          <a:xfrm>
            <a:off x="809625" y="3505200"/>
            <a:ext cx="571500" cy="47625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C8FD0A-0BFD-4ED8-86F6-B7AD10403234}"/>
              </a:ext>
            </a:extLst>
          </p:cNvPr>
          <p:cNvSpPr>
            <a:spLocks noGrp="1"/>
          </p:cNvSpPr>
          <p:nvPr/>
        </p:nvSpPr>
        <p:spPr>
          <a:xfrm>
            <a:off x="809625" y="3552825"/>
            <a:ext cx="571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291123-F78F-4EF2-9021-3234AEDBEAAE}"/>
              </a:ext>
            </a:extLst>
          </p:cNvPr>
          <p:cNvSpPr>
            <a:spLocks noGrp="1"/>
          </p:cNvSpPr>
          <p:nvPr/>
        </p:nvSpPr>
        <p:spPr>
          <a:xfrm>
            <a:off x="1666875" y="3524250"/>
            <a:ext cx="847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Impute SES from training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7DBFD4-E552-421E-BAA4-2889970F0E35}"/>
              </a:ext>
            </a:extLst>
          </p:cNvPr>
          <p:cNvSpPr>
            <a:spLocks noGrp="1"/>
          </p:cNvSpPr>
          <p:nvPr/>
        </p:nvSpPr>
        <p:spPr>
          <a:xfrm>
            <a:off x="809625" y="4219575"/>
            <a:ext cx="571500" cy="476250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526FFD-A440-4D1B-85E8-8BC1B1ADF85B}"/>
              </a:ext>
            </a:extLst>
          </p:cNvPr>
          <p:cNvSpPr>
            <a:spLocks noGrp="1"/>
          </p:cNvSpPr>
          <p:nvPr/>
        </p:nvSpPr>
        <p:spPr>
          <a:xfrm>
            <a:off x="809625" y="4267200"/>
            <a:ext cx="571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9DDE54-D00B-4FD0-87B7-FAB6B1ECECDB}"/>
              </a:ext>
            </a:extLst>
          </p:cNvPr>
          <p:cNvSpPr>
            <a:spLocks noGrp="1"/>
          </p:cNvSpPr>
          <p:nvPr/>
        </p:nvSpPr>
        <p:spPr>
          <a:xfrm>
            <a:off x="1666875" y="4238625"/>
            <a:ext cx="847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Stratified 60 / 20 / 20 split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C67310-BEBC-4ECC-9089-871B70916B8F}"/>
              </a:ext>
            </a:extLst>
          </p:cNvPr>
          <p:cNvSpPr>
            <a:spLocks noGrp="1"/>
          </p:cNvSpPr>
          <p:nvPr/>
        </p:nvSpPr>
        <p:spPr>
          <a:xfrm>
            <a:off x="790575" y="5143500"/>
            <a:ext cx="10620375" cy="514350"/>
          </a:xfrm>
          <a:prstGeom prst="rect">
            <a:avLst/>
          </a:prstGeom>
          <a:solidFill>
            <a:srgbClr val="FFF1F3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99C0EB-71C7-483E-A33E-02DFDE7ABFF1}"/>
              </a:ext>
            </a:extLst>
          </p:cNvPr>
          <p:cNvSpPr>
            <a:spLocks noGrp="1"/>
          </p:cNvSpPr>
          <p:nvPr/>
        </p:nvSpPr>
        <p:spPr>
          <a:xfrm>
            <a:off x="981075" y="5238750"/>
            <a:ext cx="10239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Test set: 47 records (27 CDR 0, 20 CDR &gt; 0). SES imputation is learned from training rows only.</a:t>
            </a:r>
          </a:p>
        </p:txBody>
      </p:sp>
    </p:spTree>
    <p:extLst>
      <p:ext uri="{BB962C8B-B14F-4D97-AF65-F5344CB8AC3E}">
        <p14:creationId xmlns:p14="http://schemas.microsoft.com/office/powerpoint/2010/main" val="525903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6C18290-D108-4AFA-ACD5-7D16E45CE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395D19-88AD-4572-81A6-EC1AA55E317F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/>
          </a:bodyPr>
          <a:lstStyle/>
          <a:p>
            <a:pPr algn="l">
              <a:def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METHOD AND PROJECT CONTRIBUTION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0B845E-DBEC-4134-8D85-02F64E8ACEE1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Proposed analytical approach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8473E8-BF0D-4AC7-98C4-0887E5CBD679}"/>
              </a:ext>
            </a:extLst>
          </p:cNvPr>
          <p:cNvSpPr>
            <a:spLocks noGrp="1"/>
          </p:cNvSpPr>
          <p:nvPr/>
        </p:nvSpPr>
        <p:spPr>
          <a:xfrm>
            <a:off x="590550" y="6191250"/>
            <a:ext cx="11010900" cy="9525"/>
          </a:xfrm>
          <a:prstGeom prst="rect">
            <a:avLst/>
          </a:prstGeom>
          <a:solidFill>
            <a:srgbClr val="D9E0E8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5630CD-183C-4ECE-A282-186CB372459B}"/>
              </a:ext>
            </a:extLst>
          </p:cNvPr>
          <p:cNvSpPr>
            <a:spLocks noGrp="1"/>
          </p:cNvSpPr>
          <p:nvPr/>
        </p:nvSpPr>
        <p:spPr>
          <a:xfrm>
            <a:off x="590550" y="6286500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SIT Nagpur | OASIS CDR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AD7E5F-0DBC-4A8B-B20E-A8896FE05F48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1E92C0-D5B7-4378-92AE-5BEC633D4FB7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Staged feature blocks test whether added information changes the result.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6593DC-8560-4F34-924C-AC2B15FC2E2D}"/>
              </a:ext>
            </a:extLst>
          </p:cNvPr>
          <p:cNvSpPr>
            <a:spLocks noGrp="1"/>
          </p:cNvSpPr>
          <p:nvPr/>
        </p:nvSpPr>
        <p:spPr>
          <a:xfrm>
            <a:off x="800100" y="1933575"/>
            <a:ext cx="3238500" cy="1266825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6511EC-9A51-481C-8FCB-254B97341246}"/>
              </a:ext>
            </a:extLst>
          </p:cNvPr>
          <p:cNvSpPr>
            <a:spLocks noGrp="1"/>
          </p:cNvSpPr>
          <p:nvPr/>
        </p:nvSpPr>
        <p:spPr>
          <a:xfrm>
            <a:off x="971550" y="20859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294"/>
          </a:bodyPr>
          <a:lstStyle/>
          <a:p>
            <a:pPr algn="l">
              <a:defRPr sz="127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BASELINE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CFA1FE-F7FA-4E0A-9789-A6DB3A570F5C}"/>
              </a:ext>
            </a:extLst>
          </p:cNvPr>
          <p:cNvSpPr>
            <a:spLocks noGrp="1"/>
          </p:cNvSpPr>
          <p:nvPr/>
        </p:nvSpPr>
        <p:spPr>
          <a:xfrm>
            <a:off x="971550" y="2466975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Age, sex, education, 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DAC2AF-D125-40A2-8C2C-1C870FAF71F1}"/>
              </a:ext>
            </a:extLst>
          </p:cNvPr>
          <p:cNvSpPr>
            <a:spLocks noGrp="1"/>
          </p:cNvSpPr>
          <p:nvPr/>
        </p:nvSpPr>
        <p:spPr>
          <a:xfrm>
            <a:off x="4371975" y="1933575"/>
            <a:ext cx="3238500" cy="1266825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9F36B2-2DB8-4747-B808-89FC69F736AA}"/>
              </a:ext>
            </a:extLst>
          </p:cNvPr>
          <p:cNvSpPr>
            <a:spLocks noGrp="1"/>
          </p:cNvSpPr>
          <p:nvPr/>
        </p:nvSpPr>
        <p:spPr>
          <a:xfrm>
            <a:off x="4543425" y="20859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294"/>
          </a:bodyPr>
          <a:lstStyle/>
          <a:p>
            <a:pPr algn="l">
              <a:defRPr sz="127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MRI ADD-ON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3D5F4A-4594-41C9-89D9-89A074168AAA}"/>
              </a:ext>
            </a:extLst>
          </p:cNvPr>
          <p:cNvSpPr>
            <a:spLocks noGrp="1"/>
          </p:cNvSpPr>
          <p:nvPr/>
        </p:nvSpPr>
        <p:spPr>
          <a:xfrm>
            <a:off x="4543425" y="2466975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+ eTIV and nWBV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3959E6-6492-4BB4-8196-B05E4D8145BC}"/>
              </a:ext>
            </a:extLst>
          </p:cNvPr>
          <p:cNvSpPr>
            <a:spLocks noGrp="1"/>
          </p:cNvSpPr>
          <p:nvPr/>
        </p:nvSpPr>
        <p:spPr>
          <a:xfrm>
            <a:off x="7943850" y="1933575"/>
            <a:ext cx="3238500" cy="1266825"/>
          </a:xfrm>
          <a:prstGeom prst="rect">
            <a:avLst/>
          </a:prstGeom>
          <a:solidFill>
            <a:srgbClr val="FFF1F3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A17B76-11FF-4F2F-8B86-A90679263513}"/>
              </a:ext>
            </a:extLst>
          </p:cNvPr>
          <p:cNvSpPr>
            <a:spLocks noGrp="1"/>
          </p:cNvSpPr>
          <p:nvPr/>
        </p:nvSpPr>
        <p:spPr>
          <a:xfrm>
            <a:off x="8115300" y="20859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294"/>
          </a:bodyPr>
          <a:lstStyle/>
          <a:p>
            <a:pPr algn="l">
              <a:defRPr sz="1275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COGNITIVE ADD-ON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B57951-A810-4792-8A57-AACFCA166A4E}"/>
              </a:ext>
            </a:extLst>
          </p:cNvPr>
          <p:cNvSpPr>
            <a:spLocks noGrp="1"/>
          </p:cNvSpPr>
          <p:nvPr/>
        </p:nvSpPr>
        <p:spPr>
          <a:xfrm>
            <a:off x="8115300" y="2466975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+ MMSE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40DB4F-FC70-4BD6-A4DA-F1075FEF96F8}"/>
              </a:ext>
            </a:extLst>
          </p:cNvPr>
          <p:cNvSpPr>
            <a:spLocks noGrp="1"/>
          </p:cNvSpPr>
          <p:nvPr/>
        </p:nvSpPr>
        <p:spPr>
          <a:xfrm>
            <a:off x="809625" y="361950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Candidate methods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9743EA-E847-4A86-88DA-3AED6D8CEF7E}"/>
              </a:ext>
            </a:extLst>
          </p:cNvPr>
          <p:cNvSpPr>
            <a:spLocks noGrp="1"/>
          </p:cNvSpPr>
          <p:nvPr/>
        </p:nvSpPr>
        <p:spPr>
          <a:xfrm>
            <a:off x="809625" y="4000500"/>
            <a:ext cx="102870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Logistic regression | shallow decision tree | KNN (k=9) | soft voting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F76AD7-E335-47A4-88FB-3BB60B3583DB}"/>
              </a:ext>
            </a:extLst>
          </p:cNvPr>
          <p:cNvSpPr>
            <a:spLocks noGrp="1"/>
          </p:cNvSpPr>
          <p:nvPr/>
        </p:nvSpPr>
        <p:spPr>
          <a:xfrm>
            <a:off x="809625" y="457200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Threshold selection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E8A89F-E985-488B-9302-E0D87CAD64BA}"/>
              </a:ext>
            </a:extLst>
          </p:cNvPr>
          <p:cNvSpPr>
            <a:spLocks noGrp="1"/>
          </p:cNvSpPr>
          <p:nvPr/>
        </p:nvSpPr>
        <p:spPr>
          <a:xfrm>
            <a:off x="809625" y="4953000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Choose each threshold on validation data by F2, then score the untouched test set.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2B8429-D30E-426B-B68E-D6D5C216381E}"/>
              </a:ext>
            </a:extLst>
          </p:cNvPr>
          <p:cNvSpPr>
            <a:spLocks noGrp="1"/>
          </p:cNvSpPr>
          <p:nvPr/>
        </p:nvSpPr>
        <p:spPr>
          <a:xfrm>
            <a:off x="809625" y="55054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The project contribution is the combined comparison design, not a claim of a new clinical algorithm.</a:t>
            </a:r>
          </a:p>
        </p:txBody>
      </p:sp>
    </p:spTree>
    <p:extLst>
      <p:ext uri="{BB962C8B-B14F-4D97-AF65-F5344CB8AC3E}">
        <p14:creationId xmlns:p14="http://schemas.microsoft.com/office/powerpoint/2010/main" val="1942209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25659C0-3974-42C4-BFBA-C7B746780F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BC814D-0CA6-4740-9836-D95510DDC9C4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/>
          </a:bodyPr>
          <a:lstStyle/>
          <a:p>
            <a:pPr algn="l">
              <a:def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HELD-OUT TEST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E9DB1F-2227-4F0F-A66F-C8E24E9E32C3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Feature-block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3AF8F8-2C58-4BFB-A94F-5E1368AA880A}"/>
              </a:ext>
            </a:extLst>
          </p:cNvPr>
          <p:cNvSpPr>
            <a:spLocks noGrp="1"/>
          </p:cNvSpPr>
          <p:nvPr/>
        </p:nvSpPr>
        <p:spPr>
          <a:xfrm>
            <a:off x="590550" y="6191250"/>
            <a:ext cx="11010900" cy="9525"/>
          </a:xfrm>
          <a:prstGeom prst="rect">
            <a:avLst/>
          </a:prstGeom>
          <a:solidFill>
            <a:srgbClr val="D9E0E8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7AA4AF-5D2E-4C48-8BFE-46E030B9B24F}"/>
              </a:ext>
            </a:extLst>
          </p:cNvPr>
          <p:cNvSpPr>
            <a:spLocks noGrp="1"/>
          </p:cNvSpPr>
          <p:nvPr/>
        </p:nvSpPr>
        <p:spPr>
          <a:xfrm>
            <a:off x="590550" y="6286500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SIT Nagpur | OASIS CDR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892A1-9020-45B4-8A6E-CD94F54710D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FCE4C3-E7D3-4456-9E86-A74F2343622D}"/>
              </a:ext>
            </a:extLst>
          </p:cNvPr>
          <p:cNvSpPr>
            <a:spLocks noGrp="1"/>
          </p:cNvSpPr>
          <p:nvPr/>
        </p:nvSpPr>
        <p:spPr>
          <a:xfrm>
            <a:off x="781050" y="12192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Logistic regression | test AUC and F2 after validation threshold selection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CE0BE5-70E1-43C8-8C3B-799F2C227D99}"/>
              </a:ext>
            </a:extLst>
          </p:cNvPr>
          <p:cNvSpPr>
            <a:spLocks noGrp="1"/>
          </p:cNvSpPr>
          <p:nvPr/>
        </p:nvSpPr>
        <p:spPr>
          <a:xfrm>
            <a:off x="876300" y="197167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Demographics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02A60C-7176-4B49-A735-1E59F13A9D4B}"/>
              </a:ext>
            </a:extLst>
          </p:cNvPr>
          <p:cNvSpPr>
            <a:spLocks noGrp="1"/>
          </p:cNvSpPr>
          <p:nvPr/>
        </p:nvSpPr>
        <p:spPr>
          <a:xfrm>
            <a:off x="4095750" y="1933575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AUC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975BB5-AC09-4DF3-B0A1-5414187187E0}"/>
              </a:ext>
            </a:extLst>
          </p:cNvPr>
          <p:cNvSpPr>
            <a:spLocks noGrp="1"/>
          </p:cNvSpPr>
          <p:nvPr/>
        </p:nvSpPr>
        <p:spPr>
          <a:xfrm>
            <a:off x="4619625" y="1971675"/>
            <a:ext cx="2944844" cy="209550"/>
          </a:xfrm>
          <a:prstGeom prst="rect">
            <a:avLst/>
          </a:prstGeom>
          <a:solidFill>
            <a:srgbClr val="3A86FF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A9F60E-9BAC-42E9-AE83-A1327075969E}"/>
              </a:ext>
            </a:extLst>
          </p:cNvPr>
          <p:cNvSpPr>
            <a:spLocks noGrp="1"/>
          </p:cNvSpPr>
          <p:nvPr/>
        </p:nvSpPr>
        <p:spPr>
          <a:xfrm>
            <a:off x="8810625" y="194310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0.719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8C2C95-C499-494D-9C54-99F75277FC08}"/>
              </a:ext>
            </a:extLst>
          </p:cNvPr>
          <p:cNvSpPr>
            <a:spLocks noGrp="1"/>
          </p:cNvSpPr>
          <p:nvPr/>
        </p:nvSpPr>
        <p:spPr>
          <a:xfrm>
            <a:off x="4095750" y="23050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F2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DB459A-C0F1-4828-BD41-A0C27313E68D}"/>
              </a:ext>
            </a:extLst>
          </p:cNvPr>
          <p:cNvSpPr>
            <a:spLocks noGrp="1"/>
          </p:cNvSpPr>
          <p:nvPr/>
        </p:nvSpPr>
        <p:spPr>
          <a:xfrm>
            <a:off x="4619625" y="2333625"/>
            <a:ext cx="3125057" cy="20955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5CCBE-28AC-4722-8937-DB6A5CC5ED95}"/>
              </a:ext>
            </a:extLst>
          </p:cNvPr>
          <p:cNvSpPr>
            <a:spLocks noGrp="1"/>
          </p:cNvSpPr>
          <p:nvPr/>
        </p:nvSpPr>
        <p:spPr>
          <a:xfrm>
            <a:off x="8810625" y="23050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0.763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16A914-0017-4B03-8FD3-940110D7B70B}"/>
              </a:ext>
            </a:extLst>
          </p:cNvPr>
          <p:cNvSpPr>
            <a:spLocks noGrp="1"/>
          </p:cNvSpPr>
          <p:nvPr/>
        </p:nvSpPr>
        <p:spPr>
          <a:xfrm>
            <a:off x="876300" y="294322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Demographics + MRI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2A6C14-7876-48C8-A331-1CCF00F081D3}"/>
              </a:ext>
            </a:extLst>
          </p:cNvPr>
          <p:cNvSpPr>
            <a:spLocks noGrp="1"/>
          </p:cNvSpPr>
          <p:nvPr/>
        </p:nvSpPr>
        <p:spPr>
          <a:xfrm>
            <a:off x="4095750" y="2905125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AUC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7A8EF3-5D2F-4558-9D49-64663A7F7B82}"/>
              </a:ext>
            </a:extLst>
          </p:cNvPr>
          <p:cNvSpPr>
            <a:spLocks noGrp="1"/>
          </p:cNvSpPr>
          <p:nvPr/>
        </p:nvSpPr>
        <p:spPr>
          <a:xfrm>
            <a:off x="4619625" y="2943225"/>
            <a:ext cx="3088196" cy="209550"/>
          </a:xfrm>
          <a:prstGeom prst="rect">
            <a:avLst/>
          </a:prstGeom>
          <a:solidFill>
            <a:srgbClr val="3A86FF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42021B-FD13-4D34-94FA-C8CB556794E9}"/>
              </a:ext>
            </a:extLst>
          </p:cNvPr>
          <p:cNvSpPr>
            <a:spLocks noGrp="1"/>
          </p:cNvSpPr>
          <p:nvPr/>
        </p:nvSpPr>
        <p:spPr>
          <a:xfrm>
            <a:off x="8810625" y="29146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0.754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E2E1F1-9B93-4E8C-AC50-E9AB0491348E}"/>
              </a:ext>
            </a:extLst>
          </p:cNvPr>
          <p:cNvSpPr>
            <a:spLocks noGrp="1"/>
          </p:cNvSpPr>
          <p:nvPr/>
        </p:nvSpPr>
        <p:spPr>
          <a:xfrm>
            <a:off x="4095750" y="327660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F2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6CAFE1-19A3-4736-881D-4A4EFCDD2420}"/>
              </a:ext>
            </a:extLst>
          </p:cNvPr>
          <p:cNvSpPr>
            <a:spLocks noGrp="1"/>
          </p:cNvSpPr>
          <p:nvPr/>
        </p:nvSpPr>
        <p:spPr>
          <a:xfrm>
            <a:off x="4619625" y="3305175"/>
            <a:ext cx="3325749" cy="20955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1127FC-37BE-4C08-9AB4-3E276571024A}"/>
              </a:ext>
            </a:extLst>
          </p:cNvPr>
          <p:cNvSpPr>
            <a:spLocks noGrp="1"/>
          </p:cNvSpPr>
          <p:nvPr/>
        </p:nvSpPr>
        <p:spPr>
          <a:xfrm>
            <a:off x="8810625" y="327660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0.812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662371-A099-45B7-AF78-B05D1D217921}"/>
              </a:ext>
            </a:extLst>
          </p:cNvPr>
          <p:cNvSpPr>
            <a:spLocks noGrp="1"/>
          </p:cNvSpPr>
          <p:nvPr/>
        </p:nvSpPr>
        <p:spPr>
          <a:xfrm>
            <a:off x="876300" y="391477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Demographics + MRI + MMSE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A9703B-4825-4310-A430-8BC67F957FC8}"/>
              </a:ext>
            </a:extLst>
          </p:cNvPr>
          <p:cNvSpPr>
            <a:spLocks noGrp="1"/>
          </p:cNvSpPr>
          <p:nvPr/>
        </p:nvSpPr>
        <p:spPr>
          <a:xfrm>
            <a:off x="4095750" y="3876675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AUC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FB228B-FA0F-41FF-BB11-7E6522E8D359}"/>
              </a:ext>
            </a:extLst>
          </p:cNvPr>
          <p:cNvSpPr>
            <a:spLocks noGrp="1"/>
          </p:cNvSpPr>
          <p:nvPr/>
        </p:nvSpPr>
        <p:spPr>
          <a:xfrm>
            <a:off x="4619625" y="3914775"/>
            <a:ext cx="3641122" cy="209550"/>
          </a:xfrm>
          <a:prstGeom prst="rect">
            <a:avLst/>
          </a:prstGeom>
          <a:solidFill>
            <a:srgbClr val="3A86FF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663E6A-3FA1-408A-AFBD-B6147884D508}"/>
              </a:ext>
            </a:extLst>
          </p:cNvPr>
          <p:cNvSpPr>
            <a:spLocks noGrp="1"/>
          </p:cNvSpPr>
          <p:nvPr/>
        </p:nvSpPr>
        <p:spPr>
          <a:xfrm>
            <a:off x="8810625" y="388620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0.889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65A3C9-922C-4794-9AAE-9F7D64B1605E}"/>
              </a:ext>
            </a:extLst>
          </p:cNvPr>
          <p:cNvSpPr>
            <a:spLocks noGrp="1"/>
          </p:cNvSpPr>
          <p:nvPr/>
        </p:nvSpPr>
        <p:spPr>
          <a:xfrm>
            <a:off x="4095750" y="4248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F2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10BF96-C8EE-4488-B9B3-29313538693A}"/>
              </a:ext>
            </a:extLst>
          </p:cNvPr>
          <p:cNvSpPr>
            <a:spLocks noGrp="1"/>
          </p:cNvSpPr>
          <p:nvPr/>
        </p:nvSpPr>
        <p:spPr>
          <a:xfrm>
            <a:off x="4619625" y="4276725"/>
            <a:ext cx="3624739" cy="20955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8FC92A-05E8-4BB2-BBE9-A9B1E542B657}"/>
              </a:ext>
            </a:extLst>
          </p:cNvPr>
          <p:cNvSpPr>
            <a:spLocks noGrp="1"/>
          </p:cNvSpPr>
          <p:nvPr/>
        </p:nvSpPr>
        <p:spPr>
          <a:xfrm>
            <a:off x="8810625" y="42481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0.885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0714A0-A1B0-439F-BFA8-FA1023A56F41}"/>
              </a:ext>
            </a:extLst>
          </p:cNvPr>
          <p:cNvSpPr>
            <a:spLocks noGrp="1"/>
          </p:cNvSpPr>
          <p:nvPr/>
        </p:nvSpPr>
        <p:spPr>
          <a:xfrm>
            <a:off x="781050" y="5095875"/>
            <a:ext cx="10572750" cy="714375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E1A8CC-61C0-4112-908F-00C14DA1DD68}"/>
              </a:ext>
            </a:extLst>
          </p:cNvPr>
          <p:cNvSpPr>
            <a:spLocks noGrp="1"/>
          </p:cNvSpPr>
          <p:nvPr/>
        </p:nvSpPr>
        <p:spPr>
          <a:xfrm>
            <a:off x="990600" y="5210175"/>
            <a:ext cx="10096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MMSE is a contemporaneous cognitive measure. Its stronger result is not evidence of future-risk prediction.</a:t>
            </a:r>
          </a:p>
        </p:txBody>
      </p:sp>
    </p:spTree>
    <p:extLst>
      <p:ext uri="{BB962C8B-B14F-4D97-AF65-F5344CB8AC3E}">
        <p14:creationId xmlns:p14="http://schemas.microsoft.com/office/powerpoint/2010/main" val="194188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03">
            <a:extLst>
              <a:ext uri="{FF2B5EF4-FFF2-40B4-BE49-F238E27FC236}">
                <a16:creationId xmlns:a16="http://schemas.microsoft.com/office/drawing/2014/main" id="{07C8771D-ADDF-48D1-83F8-D259CAB436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D63378-C662-4F5B-9BBA-5048CA8B3F74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/>
          </a:bodyPr>
          <a:lstStyle/>
          <a:p>
            <a:pPr algn="l">
              <a:def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HELD-OUT TEST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A8AEAE-5BC1-49AC-B82B-EBFD819F425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Model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D3AB16-7C1E-473F-8640-DDADA6E2668E}"/>
              </a:ext>
            </a:extLst>
          </p:cNvPr>
          <p:cNvSpPr>
            <a:spLocks noGrp="1"/>
          </p:cNvSpPr>
          <p:nvPr/>
        </p:nvSpPr>
        <p:spPr>
          <a:xfrm>
            <a:off x="590550" y="6191250"/>
            <a:ext cx="11010900" cy="9525"/>
          </a:xfrm>
          <a:prstGeom prst="rect">
            <a:avLst/>
          </a:prstGeom>
          <a:solidFill>
            <a:srgbClr val="D9E0E8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3A6DA6-D439-4872-B447-4F0B28DA9DE4}"/>
              </a:ext>
            </a:extLst>
          </p:cNvPr>
          <p:cNvSpPr>
            <a:spLocks noGrp="1"/>
          </p:cNvSpPr>
          <p:nvPr/>
        </p:nvSpPr>
        <p:spPr>
          <a:xfrm>
            <a:off x="590550" y="6286500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SIT Nagpur | OASIS CDR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BB09FB-88FE-4430-8F3F-597156496C18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C97048-A643-499F-9E63-F8EACB5394B0}"/>
              </a:ext>
            </a:extLst>
          </p:cNvPr>
          <p:cNvSpPr>
            <a:spLocks noGrp="1"/>
          </p:cNvSpPr>
          <p:nvPr/>
        </p:nvSpPr>
        <p:spPr>
          <a:xfrm>
            <a:off x="742950" y="1333500"/>
            <a:ext cx="3619500" cy="35242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9E83A3-37A9-4F4B-99E6-6F871E4B2567}"/>
              </a:ext>
            </a:extLst>
          </p:cNvPr>
          <p:cNvSpPr>
            <a:spLocks noGrp="1"/>
          </p:cNvSpPr>
          <p:nvPr/>
        </p:nvSpPr>
        <p:spPr>
          <a:xfrm>
            <a:off x="809625" y="1381125"/>
            <a:ext cx="34861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/>
          </a:bodyPr>
          <a:lstStyle/>
          <a:p>
            <a:pPr algn="l">
              <a:def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DCB349-7005-4598-A1FC-9E89B1437BFA}"/>
              </a:ext>
            </a:extLst>
          </p:cNvPr>
          <p:cNvSpPr>
            <a:spLocks noGrp="1"/>
          </p:cNvSpPr>
          <p:nvPr/>
        </p:nvSpPr>
        <p:spPr>
          <a:xfrm>
            <a:off x="4476750" y="1333500"/>
            <a:ext cx="1190625" cy="35242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1C2D89-932C-4667-81E6-5291DC3D8DCD}"/>
              </a:ext>
            </a:extLst>
          </p:cNvPr>
          <p:cNvSpPr>
            <a:spLocks noGrp="1"/>
          </p:cNvSpPr>
          <p:nvPr/>
        </p:nvSpPr>
        <p:spPr>
          <a:xfrm>
            <a:off x="4543425" y="1381125"/>
            <a:ext cx="105727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/>
          </a:bodyPr>
          <a:lstStyle/>
          <a:p>
            <a:pPr algn="ctr">
              <a:def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AUC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ECFC5E-3AB6-4179-9E07-E1483306966C}"/>
              </a:ext>
            </a:extLst>
          </p:cNvPr>
          <p:cNvSpPr>
            <a:spLocks noGrp="1"/>
          </p:cNvSpPr>
          <p:nvPr/>
        </p:nvSpPr>
        <p:spPr>
          <a:xfrm>
            <a:off x="5734050" y="1333500"/>
            <a:ext cx="1143000" cy="35242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789C7E-5717-4F4B-BC07-9FDED9616A20}"/>
              </a:ext>
            </a:extLst>
          </p:cNvPr>
          <p:cNvSpPr>
            <a:spLocks noGrp="1"/>
          </p:cNvSpPr>
          <p:nvPr/>
        </p:nvSpPr>
        <p:spPr>
          <a:xfrm>
            <a:off x="5800725" y="1381125"/>
            <a:ext cx="10096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/>
          </a:bodyPr>
          <a:lstStyle/>
          <a:p>
            <a:pPr algn="ctr">
              <a:def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Accuracy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314F49-9500-4460-AE08-AE8E53B72F8F}"/>
              </a:ext>
            </a:extLst>
          </p:cNvPr>
          <p:cNvSpPr>
            <a:spLocks noGrp="1"/>
          </p:cNvSpPr>
          <p:nvPr/>
        </p:nvSpPr>
        <p:spPr>
          <a:xfrm>
            <a:off x="6953250" y="1333500"/>
            <a:ext cx="1047750" cy="35242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9DEB49-51F3-4866-AD9D-E93422EB4177}"/>
              </a:ext>
            </a:extLst>
          </p:cNvPr>
          <p:cNvSpPr>
            <a:spLocks noGrp="1"/>
          </p:cNvSpPr>
          <p:nvPr/>
        </p:nvSpPr>
        <p:spPr>
          <a:xfrm>
            <a:off x="7019925" y="1381125"/>
            <a:ext cx="9144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/>
          </a:bodyPr>
          <a:lstStyle/>
          <a:p>
            <a:pPr algn="ctr">
              <a:def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Recall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AF7E38-8174-4900-B291-60A4FFFC969C}"/>
              </a:ext>
            </a:extLst>
          </p:cNvPr>
          <p:cNvSpPr>
            <a:spLocks noGrp="1"/>
          </p:cNvSpPr>
          <p:nvPr/>
        </p:nvSpPr>
        <p:spPr>
          <a:xfrm>
            <a:off x="8096250" y="1333500"/>
            <a:ext cx="1143000" cy="35242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2590C7-9F87-4C98-A416-4ACECA1ACDAA}"/>
              </a:ext>
            </a:extLst>
          </p:cNvPr>
          <p:cNvSpPr>
            <a:spLocks noGrp="1"/>
          </p:cNvSpPr>
          <p:nvPr/>
        </p:nvSpPr>
        <p:spPr>
          <a:xfrm>
            <a:off x="8162925" y="1381125"/>
            <a:ext cx="10096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/>
          </a:bodyPr>
          <a:lstStyle/>
          <a:p>
            <a:pPr algn="ctr">
              <a:def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Specificity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8894FB-B1B0-4669-9FF4-45E66A59B43D}"/>
              </a:ext>
            </a:extLst>
          </p:cNvPr>
          <p:cNvSpPr>
            <a:spLocks noGrp="1"/>
          </p:cNvSpPr>
          <p:nvPr/>
        </p:nvSpPr>
        <p:spPr>
          <a:xfrm>
            <a:off x="9334500" y="1333500"/>
            <a:ext cx="1000125" cy="35242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070682-E37C-4EB7-8CD8-9CBE0A664878}"/>
              </a:ext>
            </a:extLst>
          </p:cNvPr>
          <p:cNvSpPr>
            <a:spLocks noGrp="1"/>
          </p:cNvSpPr>
          <p:nvPr/>
        </p:nvSpPr>
        <p:spPr>
          <a:xfrm>
            <a:off x="9401175" y="1381125"/>
            <a:ext cx="86677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/>
          </a:bodyPr>
          <a:lstStyle/>
          <a:p>
            <a:pPr algn="ctr">
              <a:def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F2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D58A67-6372-4FF8-ACC1-1DA1825831B9}"/>
              </a:ext>
            </a:extLst>
          </p:cNvPr>
          <p:cNvSpPr>
            <a:spLocks noGrp="1"/>
          </p:cNvSpPr>
          <p:nvPr/>
        </p:nvSpPr>
        <p:spPr>
          <a:xfrm>
            <a:off x="742950" y="1685925"/>
            <a:ext cx="3619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6A33C2-6856-4DF1-AAD9-506499EED57B}"/>
              </a:ext>
            </a:extLst>
          </p:cNvPr>
          <p:cNvSpPr>
            <a:spLocks noGrp="1"/>
          </p:cNvSpPr>
          <p:nvPr/>
        </p:nvSpPr>
        <p:spPr>
          <a:xfrm>
            <a:off x="809625" y="1743075"/>
            <a:ext cx="34861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Majority baseline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1FAABA-172A-450F-B180-09EFCC27E567}"/>
              </a:ext>
            </a:extLst>
          </p:cNvPr>
          <p:cNvSpPr>
            <a:spLocks noGrp="1"/>
          </p:cNvSpPr>
          <p:nvPr/>
        </p:nvSpPr>
        <p:spPr>
          <a:xfrm>
            <a:off x="4476750" y="1685925"/>
            <a:ext cx="11906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100B19-A4D4-41E6-A34A-3F9231F7BA69}"/>
              </a:ext>
            </a:extLst>
          </p:cNvPr>
          <p:cNvSpPr>
            <a:spLocks noGrp="1"/>
          </p:cNvSpPr>
          <p:nvPr/>
        </p:nvSpPr>
        <p:spPr>
          <a:xfrm>
            <a:off x="4543425" y="1743075"/>
            <a:ext cx="10572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18943B-7645-4740-8D3C-4A654EBC2E9E}"/>
              </a:ext>
            </a:extLst>
          </p:cNvPr>
          <p:cNvSpPr>
            <a:spLocks noGrp="1"/>
          </p:cNvSpPr>
          <p:nvPr/>
        </p:nvSpPr>
        <p:spPr>
          <a:xfrm>
            <a:off x="5734050" y="1685925"/>
            <a:ext cx="1143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210831-830E-4F30-AC9E-26D8626085CE}"/>
              </a:ext>
            </a:extLst>
          </p:cNvPr>
          <p:cNvSpPr>
            <a:spLocks noGrp="1"/>
          </p:cNvSpPr>
          <p:nvPr/>
        </p:nvSpPr>
        <p:spPr>
          <a:xfrm>
            <a:off x="5800725" y="1743075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0.574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174977-505E-44E7-9C69-FA62A1D24A12}"/>
              </a:ext>
            </a:extLst>
          </p:cNvPr>
          <p:cNvSpPr>
            <a:spLocks noGrp="1"/>
          </p:cNvSpPr>
          <p:nvPr/>
        </p:nvSpPr>
        <p:spPr>
          <a:xfrm>
            <a:off x="6953250" y="1685925"/>
            <a:ext cx="10477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AEDAE5-9C82-4A50-AFEC-46F289B8034D}"/>
              </a:ext>
            </a:extLst>
          </p:cNvPr>
          <p:cNvSpPr>
            <a:spLocks noGrp="1"/>
          </p:cNvSpPr>
          <p:nvPr/>
        </p:nvSpPr>
        <p:spPr>
          <a:xfrm>
            <a:off x="7019925" y="1743075"/>
            <a:ext cx="9144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0.000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C4955B-B74C-40EF-BD3E-0966702A078F}"/>
              </a:ext>
            </a:extLst>
          </p:cNvPr>
          <p:cNvSpPr>
            <a:spLocks noGrp="1"/>
          </p:cNvSpPr>
          <p:nvPr/>
        </p:nvSpPr>
        <p:spPr>
          <a:xfrm>
            <a:off x="8096250" y="1685925"/>
            <a:ext cx="1143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5845CC-8408-4164-8062-08C02E5CCFEB}"/>
              </a:ext>
            </a:extLst>
          </p:cNvPr>
          <p:cNvSpPr>
            <a:spLocks noGrp="1"/>
          </p:cNvSpPr>
          <p:nvPr/>
        </p:nvSpPr>
        <p:spPr>
          <a:xfrm>
            <a:off x="8162925" y="1743075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1.000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D5F310-78E2-4340-AA4D-D79C48888A91}"/>
              </a:ext>
            </a:extLst>
          </p:cNvPr>
          <p:cNvSpPr>
            <a:spLocks noGrp="1"/>
          </p:cNvSpPr>
          <p:nvPr/>
        </p:nvSpPr>
        <p:spPr>
          <a:xfrm>
            <a:off x="9334500" y="16859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655F4A-E385-49D0-B037-8C58C0B68BBC}"/>
              </a:ext>
            </a:extLst>
          </p:cNvPr>
          <p:cNvSpPr>
            <a:spLocks noGrp="1"/>
          </p:cNvSpPr>
          <p:nvPr/>
        </p:nvSpPr>
        <p:spPr>
          <a:xfrm>
            <a:off x="9401175" y="1743075"/>
            <a:ext cx="8667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0.000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45D622-1934-4709-9318-05946C8B3CD9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3619500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463C8D-2F63-4E8C-8D0F-18196CD2472F}"/>
              </a:ext>
            </a:extLst>
          </p:cNvPr>
          <p:cNvSpPr>
            <a:spLocks noGrp="1"/>
          </p:cNvSpPr>
          <p:nvPr/>
        </p:nvSpPr>
        <p:spPr>
          <a:xfrm>
            <a:off x="809625" y="2190750"/>
            <a:ext cx="34861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Logistic demographics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2D427F-DCBC-4D14-A80A-803D9AB6FA94}"/>
              </a:ext>
            </a:extLst>
          </p:cNvPr>
          <p:cNvSpPr>
            <a:spLocks noGrp="1"/>
          </p:cNvSpPr>
          <p:nvPr/>
        </p:nvSpPr>
        <p:spPr>
          <a:xfrm>
            <a:off x="4476750" y="2133600"/>
            <a:ext cx="1190625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5E0F94-2F82-40BE-BFEE-B4E87A7A5586}"/>
              </a:ext>
            </a:extLst>
          </p:cNvPr>
          <p:cNvSpPr>
            <a:spLocks noGrp="1"/>
          </p:cNvSpPr>
          <p:nvPr/>
        </p:nvSpPr>
        <p:spPr>
          <a:xfrm>
            <a:off x="4543425" y="2190750"/>
            <a:ext cx="10572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0.719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56F858-FC5F-4339-AE07-551DEFD8619C}"/>
              </a:ext>
            </a:extLst>
          </p:cNvPr>
          <p:cNvSpPr>
            <a:spLocks noGrp="1"/>
          </p:cNvSpPr>
          <p:nvPr/>
        </p:nvSpPr>
        <p:spPr>
          <a:xfrm>
            <a:off x="5734050" y="2133600"/>
            <a:ext cx="1143000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B7C8BB-BD5B-4363-BF31-872AA4EAA069}"/>
              </a:ext>
            </a:extLst>
          </p:cNvPr>
          <p:cNvSpPr>
            <a:spLocks noGrp="1"/>
          </p:cNvSpPr>
          <p:nvPr/>
        </p:nvSpPr>
        <p:spPr>
          <a:xfrm>
            <a:off x="5800725" y="2190750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0.532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4BE718-73A4-445C-A949-1E0F69F7E277}"/>
              </a:ext>
            </a:extLst>
          </p:cNvPr>
          <p:cNvSpPr>
            <a:spLocks noGrp="1"/>
          </p:cNvSpPr>
          <p:nvPr/>
        </p:nvSpPr>
        <p:spPr>
          <a:xfrm>
            <a:off x="6953250" y="2133600"/>
            <a:ext cx="1047750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96F9C7-3646-41C2-B733-0398BE584B72}"/>
              </a:ext>
            </a:extLst>
          </p:cNvPr>
          <p:cNvSpPr>
            <a:spLocks noGrp="1"/>
          </p:cNvSpPr>
          <p:nvPr/>
        </p:nvSpPr>
        <p:spPr>
          <a:xfrm>
            <a:off x="7019925" y="2190750"/>
            <a:ext cx="9144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0.900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A90CF9-E325-4F5B-9FAD-071EDCF1A97B}"/>
              </a:ext>
            </a:extLst>
          </p:cNvPr>
          <p:cNvSpPr>
            <a:spLocks noGrp="1"/>
          </p:cNvSpPr>
          <p:nvPr/>
        </p:nvSpPr>
        <p:spPr>
          <a:xfrm>
            <a:off x="8096250" y="2133600"/>
            <a:ext cx="1143000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0666C2-D3F7-4262-B233-81B2C8185196}"/>
              </a:ext>
            </a:extLst>
          </p:cNvPr>
          <p:cNvSpPr>
            <a:spLocks noGrp="1"/>
          </p:cNvSpPr>
          <p:nvPr/>
        </p:nvSpPr>
        <p:spPr>
          <a:xfrm>
            <a:off x="8162925" y="2190750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0.259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94B8926-A115-4C2A-AE79-09ADBF4DE02C}"/>
              </a:ext>
            </a:extLst>
          </p:cNvPr>
          <p:cNvSpPr>
            <a:spLocks noGrp="1"/>
          </p:cNvSpPr>
          <p:nvPr/>
        </p:nvSpPr>
        <p:spPr>
          <a:xfrm>
            <a:off x="9334500" y="2133600"/>
            <a:ext cx="1000125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7CEF42-80FE-4EF4-BF68-7557B1CE62C2}"/>
              </a:ext>
            </a:extLst>
          </p:cNvPr>
          <p:cNvSpPr>
            <a:spLocks noGrp="1"/>
          </p:cNvSpPr>
          <p:nvPr/>
        </p:nvSpPr>
        <p:spPr>
          <a:xfrm>
            <a:off x="9401175" y="2190750"/>
            <a:ext cx="8667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0.763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8CF86BA-E643-4051-AAF8-21A836FB80E2}"/>
              </a:ext>
            </a:extLst>
          </p:cNvPr>
          <p:cNvSpPr>
            <a:spLocks noGrp="1"/>
          </p:cNvSpPr>
          <p:nvPr/>
        </p:nvSpPr>
        <p:spPr>
          <a:xfrm>
            <a:off x="742950" y="2581275"/>
            <a:ext cx="3619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9D8B1F-D777-4AD9-A126-7A11122B4044}"/>
              </a:ext>
            </a:extLst>
          </p:cNvPr>
          <p:cNvSpPr>
            <a:spLocks noGrp="1"/>
          </p:cNvSpPr>
          <p:nvPr/>
        </p:nvSpPr>
        <p:spPr>
          <a:xfrm>
            <a:off x="809625" y="2638425"/>
            <a:ext cx="34861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Logistic + MRI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48A94DB-517A-4EC4-BD0C-2FCB3FE9FA93}"/>
              </a:ext>
            </a:extLst>
          </p:cNvPr>
          <p:cNvSpPr>
            <a:spLocks noGrp="1"/>
          </p:cNvSpPr>
          <p:nvPr/>
        </p:nvSpPr>
        <p:spPr>
          <a:xfrm>
            <a:off x="4476750" y="2581275"/>
            <a:ext cx="11906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92E58E9-DDA2-4EEF-9B50-04DC1E801F8D}"/>
              </a:ext>
            </a:extLst>
          </p:cNvPr>
          <p:cNvSpPr>
            <a:spLocks noGrp="1"/>
          </p:cNvSpPr>
          <p:nvPr/>
        </p:nvSpPr>
        <p:spPr>
          <a:xfrm>
            <a:off x="4543425" y="2638425"/>
            <a:ext cx="10572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0.754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7300D42-2E7B-49FD-B202-0EF8EB410544}"/>
              </a:ext>
            </a:extLst>
          </p:cNvPr>
          <p:cNvSpPr>
            <a:spLocks noGrp="1"/>
          </p:cNvSpPr>
          <p:nvPr/>
        </p:nvSpPr>
        <p:spPr>
          <a:xfrm>
            <a:off x="5734050" y="2581275"/>
            <a:ext cx="1143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9A3EEA4-D672-4ED9-A74A-F40DE328C6B7}"/>
              </a:ext>
            </a:extLst>
          </p:cNvPr>
          <p:cNvSpPr>
            <a:spLocks noGrp="1"/>
          </p:cNvSpPr>
          <p:nvPr/>
        </p:nvSpPr>
        <p:spPr>
          <a:xfrm>
            <a:off x="5800725" y="2638425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0.596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3ECF97-2140-4407-AEBA-DB0ED865021A}"/>
              </a:ext>
            </a:extLst>
          </p:cNvPr>
          <p:cNvSpPr>
            <a:spLocks noGrp="1"/>
          </p:cNvSpPr>
          <p:nvPr/>
        </p:nvSpPr>
        <p:spPr>
          <a:xfrm>
            <a:off x="6953250" y="2581275"/>
            <a:ext cx="10477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14E5F0F-4535-4299-9D16-BD2C57D659B4}"/>
              </a:ext>
            </a:extLst>
          </p:cNvPr>
          <p:cNvSpPr>
            <a:spLocks noGrp="1"/>
          </p:cNvSpPr>
          <p:nvPr/>
        </p:nvSpPr>
        <p:spPr>
          <a:xfrm>
            <a:off x="7019925" y="2638425"/>
            <a:ext cx="9144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0.950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612BAC5-B078-42F8-9D67-8558B4D96636}"/>
              </a:ext>
            </a:extLst>
          </p:cNvPr>
          <p:cNvSpPr>
            <a:spLocks noGrp="1"/>
          </p:cNvSpPr>
          <p:nvPr/>
        </p:nvSpPr>
        <p:spPr>
          <a:xfrm>
            <a:off x="8096250" y="2581275"/>
            <a:ext cx="1143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F90FB59-46B6-425A-8111-CDBE1C98EF9B}"/>
              </a:ext>
            </a:extLst>
          </p:cNvPr>
          <p:cNvSpPr>
            <a:spLocks noGrp="1"/>
          </p:cNvSpPr>
          <p:nvPr/>
        </p:nvSpPr>
        <p:spPr>
          <a:xfrm>
            <a:off x="8162925" y="2638425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0.333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2AE43CC-39E1-4A54-B048-5DF8F09CA75A}"/>
              </a:ext>
            </a:extLst>
          </p:cNvPr>
          <p:cNvSpPr>
            <a:spLocks noGrp="1"/>
          </p:cNvSpPr>
          <p:nvPr/>
        </p:nvSpPr>
        <p:spPr>
          <a:xfrm>
            <a:off x="9334500" y="25812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402AD44-AF83-401F-A61F-1316658DEE18}"/>
              </a:ext>
            </a:extLst>
          </p:cNvPr>
          <p:cNvSpPr>
            <a:spLocks noGrp="1"/>
          </p:cNvSpPr>
          <p:nvPr/>
        </p:nvSpPr>
        <p:spPr>
          <a:xfrm>
            <a:off x="9401175" y="2638425"/>
            <a:ext cx="8667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0.812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C7572E8-BB42-4640-A222-BF1D7FFB8EF4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3619500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6293B8E-D6DA-4D42-9096-0517D01DE2D1}"/>
              </a:ext>
            </a:extLst>
          </p:cNvPr>
          <p:cNvSpPr>
            <a:spLocks noGrp="1"/>
          </p:cNvSpPr>
          <p:nvPr/>
        </p:nvSpPr>
        <p:spPr>
          <a:xfrm>
            <a:off x="809625" y="3086100"/>
            <a:ext cx="34861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Logistic + MRI + MMSE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3EF3C68-F9B3-4753-BE4A-1304A491BEAC}"/>
              </a:ext>
            </a:extLst>
          </p:cNvPr>
          <p:cNvSpPr>
            <a:spLocks noGrp="1"/>
          </p:cNvSpPr>
          <p:nvPr/>
        </p:nvSpPr>
        <p:spPr>
          <a:xfrm>
            <a:off x="4476750" y="3028950"/>
            <a:ext cx="1190625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035DF21-164E-495E-B5CD-1963C84AB575}"/>
              </a:ext>
            </a:extLst>
          </p:cNvPr>
          <p:cNvSpPr>
            <a:spLocks noGrp="1"/>
          </p:cNvSpPr>
          <p:nvPr/>
        </p:nvSpPr>
        <p:spPr>
          <a:xfrm>
            <a:off x="4543425" y="3086100"/>
            <a:ext cx="10572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0.889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15462F-CB73-4903-BEE0-EA1B332F3A54}"/>
              </a:ext>
            </a:extLst>
          </p:cNvPr>
          <p:cNvSpPr>
            <a:spLocks noGrp="1"/>
          </p:cNvSpPr>
          <p:nvPr/>
        </p:nvSpPr>
        <p:spPr>
          <a:xfrm>
            <a:off x="5734050" y="3028950"/>
            <a:ext cx="1143000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9C57CE-0A5C-47E6-B573-36FD7F48D851}"/>
              </a:ext>
            </a:extLst>
          </p:cNvPr>
          <p:cNvSpPr>
            <a:spLocks noGrp="1"/>
          </p:cNvSpPr>
          <p:nvPr/>
        </p:nvSpPr>
        <p:spPr>
          <a:xfrm>
            <a:off x="5800725" y="3086100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0.723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904E1D0-FC0A-4110-84BF-26D39379C5EB}"/>
              </a:ext>
            </a:extLst>
          </p:cNvPr>
          <p:cNvSpPr>
            <a:spLocks noGrp="1"/>
          </p:cNvSpPr>
          <p:nvPr/>
        </p:nvSpPr>
        <p:spPr>
          <a:xfrm>
            <a:off x="6953250" y="3028950"/>
            <a:ext cx="1047750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439333E-672A-430D-B9BD-336034801773}"/>
              </a:ext>
            </a:extLst>
          </p:cNvPr>
          <p:cNvSpPr>
            <a:spLocks noGrp="1"/>
          </p:cNvSpPr>
          <p:nvPr/>
        </p:nvSpPr>
        <p:spPr>
          <a:xfrm>
            <a:off x="7019925" y="3086100"/>
            <a:ext cx="9144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1.000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282682F-0F9E-4B73-A435-AE7FEE75881A}"/>
              </a:ext>
            </a:extLst>
          </p:cNvPr>
          <p:cNvSpPr>
            <a:spLocks noGrp="1"/>
          </p:cNvSpPr>
          <p:nvPr/>
        </p:nvSpPr>
        <p:spPr>
          <a:xfrm>
            <a:off x="8096250" y="3028950"/>
            <a:ext cx="1143000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76059E9-3A9D-49C6-818A-9AE6D9680948}"/>
              </a:ext>
            </a:extLst>
          </p:cNvPr>
          <p:cNvSpPr>
            <a:spLocks noGrp="1"/>
          </p:cNvSpPr>
          <p:nvPr/>
        </p:nvSpPr>
        <p:spPr>
          <a:xfrm>
            <a:off x="8162925" y="3086100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0.519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B7AB49-E77C-42DB-81F2-4E6026305A44}"/>
              </a:ext>
            </a:extLst>
          </p:cNvPr>
          <p:cNvSpPr>
            <a:spLocks noGrp="1"/>
          </p:cNvSpPr>
          <p:nvPr/>
        </p:nvSpPr>
        <p:spPr>
          <a:xfrm>
            <a:off x="9334500" y="3028950"/>
            <a:ext cx="1000125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73E2D27-9D0D-4290-9FE0-AA040CE5D406}"/>
              </a:ext>
            </a:extLst>
          </p:cNvPr>
          <p:cNvSpPr>
            <a:spLocks noGrp="1"/>
          </p:cNvSpPr>
          <p:nvPr/>
        </p:nvSpPr>
        <p:spPr>
          <a:xfrm>
            <a:off x="9401175" y="3086100"/>
            <a:ext cx="8667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0.885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4693773-3B71-4DE3-B4EE-DD0A036CEB3B}"/>
              </a:ext>
            </a:extLst>
          </p:cNvPr>
          <p:cNvSpPr>
            <a:spLocks noGrp="1"/>
          </p:cNvSpPr>
          <p:nvPr/>
        </p:nvSpPr>
        <p:spPr>
          <a:xfrm>
            <a:off x="742950" y="3476625"/>
            <a:ext cx="3619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F71AF5C-09A7-43EA-A8CE-FC5E96B2D165}"/>
              </a:ext>
            </a:extLst>
          </p:cNvPr>
          <p:cNvSpPr>
            <a:spLocks noGrp="1"/>
          </p:cNvSpPr>
          <p:nvPr/>
        </p:nvSpPr>
        <p:spPr>
          <a:xfrm>
            <a:off x="809625" y="3533775"/>
            <a:ext cx="34861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Decision tree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9A1F6D4-25EA-4242-A78B-A8082B6ECD0B}"/>
              </a:ext>
            </a:extLst>
          </p:cNvPr>
          <p:cNvSpPr>
            <a:spLocks noGrp="1"/>
          </p:cNvSpPr>
          <p:nvPr/>
        </p:nvSpPr>
        <p:spPr>
          <a:xfrm>
            <a:off x="4476750" y="3476625"/>
            <a:ext cx="11906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83E636B-F245-404B-946F-45B29430BF2F}"/>
              </a:ext>
            </a:extLst>
          </p:cNvPr>
          <p:cNvSpPr>
            <a:spLocks noGrp="1"/>
          </p:cNvSpPr>
          <p:nvPr/>
        </p:nvSpPr>
        <p:spPr>
          <a:xfrm>
            <a:off x="4543425" y="3533775"/>
            <a:ext cx="10572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0.892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D9BC964-05E4-44B5-AC91-F6301A221ED1}"/>
              </a:ext>
            </a:extLst>
          </p:cNvPr>
          <p:cNvSpPr>
            <a:spLocks noGrp="1"/>
          </p:cNvSpPr>
          <p:nvPr/>
        </p:nvSpPr>
        <p:spPr>
          <a:xfrm>
            <a:off x="5734050" y="3476625"/>
            <a:ext cx="1143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C8DD743-1E47-4061-A954-D1A610062FD9}"/>
              </a:ext>
            </a:extLst>
          </p:cNvPr>
          <p:cNvSpPr>
            <a:spLocks noGrp="1"/>
          </p:cNvSpPr>
          <p:nvPr/>
        </p:nvSpPr>
        <p:spPr>
          <a:xfrm>
            <a:off x="5800725" y="3533775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0.745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3CECF58-DEA9-45B6-94C0-1386034633CC}"/>
              </a:ext>
            </a:extLst>
          </p:cNvPr>
          <p:cNvSpPr>
            <a:spLocks noGrp="1"/>
          </p:cNvSpPr>
          <p:nvPr/>
        </p:nvSpPr>
        <p:spPr>
          <a:xfrm>
            <a:off x="6953250" y="3476625"/>
            <a:ext cx="10477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267AA8F-E3EF-4F40-A3AE-8834D0CB56EB}"/>
              </a:ext>
            </a:extLst>
          </p:cNvPr>
          <p:cNvSpPr>
            <a:spLocks noGrp="1"/>
          </p:cNvSpPr>
          <p:nvPr/>
        </p:nvSpPr>
        <p:spPr>
          <a:xfrm>
            <a:off x="7019925" y="3533775"/>
            <a:ext cx="9144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1.000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ED9AA45-A283-4265-A50A-C33780254E11}"/>
              </a:ext>
            </a:extLst>
          </p:cNvPr>
          <p:cNvSpPr>
            <a:spLocks noGrp="1"/>
          </p:cNvSpPr>
          <p:nvPr/>
        </p:nvSpPr>
        <p:spPr>
          <a:xfrm>
            <a:off x="8096250" y="3476625"/>
            <a:ext cx="1143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F86DB40-B627-4B05-9BE5-2ED14B14BE71}"/>
              </a:ext>
            </a:extLst>
          </p:cNvPr>
          <p:cNvSpPr>
            <a:spLocks noGrp="1"/>
          </p:cNvSpPr>
          <p:nvPr/>
        </p:nvSpPr>
        <p:spPr>
          <a:xfrm>
            <a:off x="8162925" y="3533775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0.556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102602F-ADDD-47CA-AAD7-3C4CE16966A3}"/>
              </a:ext>
            </a:extLst>
          </p:cNvPr>
          <p:cNvSpPr>
            <a:spLocks noGrp="1"/>
          </p:cNvSpPr>
          <p:nvPr/>
        </p:nvSpPr>
        <p:spPr>
          <a:xfrm>
            <a:off x="9334500" y="34766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EBA3F54-5AD2-4F0B-848C-A77FDFE72A41}"/>
              </a:ext>
            </a:extLst>
          </p:cNvPr>
          <p:cNvSpPr>
            <a:spLocks noGrp="1"/>
          </p:cNvSpPr>
          <p:nvPr/>
        </p:nvSpPr>
        <p:spPr>
          <a:xfrm>
            <a:off x="9401175" y="3533775"/>
            <a:ext cx="8667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0.893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5816B98-FF3A-4859-B308-9E323FA006D4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3619500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E755494-6216-439D-A170-C5A1473F3FE9}"/>
              </a:ext>
            </a:extLst>
          </p:cNvPr>
          <p:cNvSpPr>
            <a:spLocks noGrp="1"/>
          </p:cNvSpPr>
          <p:nvPr/>
        </p:nvSpPr>
        <p:spPr>
          <a:xfrm>
            <a:off x="809625" y="3981450"/>
            <a:ext cx="34861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KNN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3B1E8F1-9FF6-48DF-ABB8-A5BCA23B966A}"/>
              </a:ext>
            </a:extLst>
          </p:cNvPr>
          <p:cNvSpPr>
            <a:spLocks noGrp="1"/>
          </p:cNvSpPr>
          <p:nvPr/>
        </p:nvSpPr>
        <p:spPr>
          <a:xfrm>
            <a:off x="4476750" y="3924300"/>
            <a:ext cx="1190625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CF797A9-A05A-4171-8CEF-4E41728BE1B8}"/>
              </a:ext>
            </a:extLst>
          </p:cNvPr>
          <p:cNvSpPr>
            <a:spLocks noGrp="1"/>
          </p:cNvSpPr>
          <p:nvPr/>
        </p:nvSpPr>
        <p:spPr>
          <a:xfrm>
            <a:off x="4543425" y="3981450"/>
            <a:ext cx="10572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0.861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11C0946-7ED9-4A4C-99D8-53D5DC16B586}"/>
              </a:ext>
            </a:extLst>
          </p:cNvPr>
          <p:cNvSpPr>
            <a:spLocks noGrp="1"/>
          </p:cNvSpPr>
          <p:nvPr/>
        </p:nvSpPr>
        <p:spPr>
          <a:xfrm>
            <a:off x="5734050" y="3924300"/>
            <a:ext cx="1143000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580F01A-DFAB-48EA-B3E8-54B558A62043}"/>
              </a:ext>
            </a:extLst>
          </p:cNvPr>
          <p:cNvSpPr>
            <a:spLocks noGrp="1"/>
          </p:cNvSpPr>
          <p:nvPr/>
        </p:nvSpPr>
        <p:spPr>
          <a:xfrm>
            <a:off x="5800725" y="3981450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0.766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593AEED-409D-4BF2-BBC6-8299EA6A6CB2}"/>
              </a:ext>
            </a:extLst>
          </p:cNvPr>
          <p:cNvSpPr>
            <a:spLocks noGrp="1"/>
          </p:cNvSpPr>
          <p:nvPr/>
        </p:nvSpPr>
        <p:spPr>
          <a:xfrm>
            <a:off x="6953250" y="3924300"/>
            <a:ext cx="1047750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B685442-79C0-41FA-9FAD-3D40C826CB91}"/>
              </a:ext>
            </a:extLst>
          </p:cNvPr>
          <p:cNvSpPr>
            <a:spLocks noGrp="1"/>
          </p:cNvSpPr>
          <p:nvPr/>
        </p:nvSpPr>
        <p:spPr>
          <a:xfrm>
            <a:off x="7019925" y="3981450"/>
            <a:ext cx="9144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0.800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9669DAA-F2C4-4C7E-A7E8-64249F02913A}"/>
              </a:ext>
            </a:extLst>
          </p:cNvPr>
          <p:cNvSpPr>
            <a:spLocks noGrp="1"/>
          </p:cNvSpPr>
          <p:nvPr/>
        </p:nvSpPr>
        <p:spPr>
          <a:xfrm>
            <a:off x="8096250" y="3924300"/>
            <a:ext cx="1143000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B0118CA-478F-444A-ADE7-2F6DE2423BB2}"/>
              </a:ext>
            </a:extLst>
          </p:cNvPr>
          <p:cNvSpPr>
            <a:spLocks noGrp="1"/>
          </p:cNvSpPr>
          <p:nvPr/>
        </p:nvSpPr>
        <p:spPr>
          <a:xfrm>
            <a:off x="8162925" y="3981450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0.741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3B3A97F-DEF0-42BB-AA1B-E4F97EC4DACC}"/>
              </a:ext>
            </a:extLst>
          </p:cNvPr>
          <p:cNvSpPr>
            <a:spLocks noGrp="1"/>
          </p:cNvSpPr>
          <p:nvPr/>
        </p:nvSpPr>
        <p:spPr>
          <a:xfrm>
            <a:off x="9334500" y="3924300"/>
            <a:ext cx="1000125" cy="42862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C0255B9-8519-49D1-9F37-55B0DB245C85}"/>
              </a:ext>
            </a:extLst>
          </p:cNvPr>
          <p:cNvSpPr>
            <a:spLocks noGrp="1"/>
          </p:cNvSpPr>
          <p:nvPr/>
        </p:nvSpPr>
        <p:spPr>
          <a:xfrm>
            <a:off x="9401175" y="3981450"/>
            <a:ext cx="8667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0.777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D58BD86-CF50-4612-9AEA-4B96CC2500A5}"/>
              </a:ext>
            </a:extLst>
          </p:cNvPr>
          <p:cNvSpPr>
            <a:spLocks noGrp="1"/>
          </p:cNvSpPr>
          <p:nvPr/>
        </p:nvSpPr>
        <p:spPr>
          <a:xfrm>
            <a:off x="742950" y="4371975"/>
            <a:ext cx="3619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A3EF796-AA2D-4555-B27C-03729AE6BA0B}"/>
              </a:ext>
            </a:extLst>
          </p:cNvPr>
          <p:cNvSpPr>
            <a:spLocks noGrp="1"/>
          </p:cNvSpPr>
          <p:nvPr/>
        </p:nvSpPr>
        <p:spPr>
          <a:xfrm>
            <a:off x="809625" y="4429125"/>
            <a:ext cx="34861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Soft voting ensemble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1C5C796-098C-46A0-97B4-83FDFAF40472}"/>
              </a:ext>
            </a:extLst>
          </p:cNvPr>
          <p:cNvSpPr>
            <a:spLocks noGrp="1"/>
          </p:cNvSpPr>
          <p:nvPr/>
        </p:nvSpPr>
        <p:spPr>
          <a:xfrm>
            <a:off x="4476750" y="4371975"/>
            <a:ext cx="11906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9F70831-8AD7-48D7-B30B-D30FAE717934}"/>
              </a:ext>
            </a:extLst>
          </p:cNvPr>
          <p:cNvSpPr>
            <a:spLocks noGrp="1"/>
          </p:cNvSpPr>
          <p:nvPr/>
        </p:nvSpPr>
        <p:spPr>
          <a:xfrm>
            <a:off x="4543425" y="4429125"/>
            <a:ext cx="10572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0.893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51EA5D4-7ACC-4B90-B69B-8B5279A7F288}"/>
              </a:ext>
            </a:extLst>
          </p:cNvPr>
          <p:cNvSpPr>
            <a:spLocks noGrp="1"/>
          </p:cNvSpPr>
          <p:nvPr/>
        </p:nvSpPr>
        <p:spPr>
          <a:xfrm>
            <a:off x="5734050" y="4371975"/>
            <a:ext cx="1143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1D5080D-6525-42AB-9254-172F1C5CD103}"/>
              </a:ext>
            </a:extLst>
          </p:cNvPr>
          <p:cNvSpPr>
            <a:spLocks noGrp="1"/>
          </p:cNvSpPr>
          <p:nvPr/>
        </p:nvSpPr>
        <p:spPr>
          <a:xfrm>
            <a:off x="5800725" y="4429125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0.723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18E3584-406B-4488-A005-DE6BCF6A60D1}"/>
              </a:ext>
            </a:extLst>
          </p:cNvPr>
          <p:cNvSpPr>
            <a:spLocks noGrp="1"/>
          </p:cNvSpPr>
          <p:nvPr/>
        </p:nvSpPr>
        <p:spPr>
          <a:xfrm>
            <a:off x="6953250" y="4371975"/>
            <a:ext cx="10477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00B49BA-6B65-4DF0-BFC4-C418B800FDAA}"/>
              </a:ext>
            </a:extLst>
          </p:cNvPr>
          <p:cNvSpPr>
            <a:spLocks noGrp="1"/>
          </p:cNvSpPr>
          <p:nvPr/>
        </p:nvSpPr>
        <p:spPr>
          <a:xfrm>
            <a:off x="7019925" y="4429125"/>
            <a:ext cx="9144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0.900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662C886-A299-4DF2-95BF-2639F920E6A5}"/>
              </a:ext>
            </a:extLst>
          </p:cNvPr>
          <p:cNvSpPr>
            <a:spLocks noGrp="1"/>
          </p:cNvSpPr>
          <p:nvPr/>
        </p:nvSpPr>
        <p:spPr>
          <a:xfrm>
            <a:off x="8096250" y="4371975"/>
            <a:ext cx="1143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342FB40-62B7-40FE-8FAE-63076CD68C2B}"/>
              </a:ext>
            </a:extLst>
          </p:cNvPr>
          <p:cNvSpPr>
            <a:spLocks noGrp="1"/>
          </p:cNvSpPr>
          <p:nvPr/>
        </p:nvSpPr>
        <p:spPr>
          <a:xfrm>
            <a:off x="8162925" y="4429125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0.593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2F69CF1-89E2-4822-9F8A-6EABC28EA840}"/>
              </a:ext>
            </a:extLst>
          </p:cNvPr>
          <p:cNvSpPr>
            <a:spLocks noGrp="1"/>
          </p:cNvSpPr>
          <p:nvPr/>
        </p:nvSpPr>
        <p:spPr>
          <a:xfrm>
            <a:off x="9334500" y="43719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88E905-C78B-4CF8-9A49-B7938DC4D96B}"/>
              </a:ext>
            </a:extLst>
          </p:cNvPr>
          <p:cNvSpPr>
            <a:spLocks noGrp="1"/>
          </p:cNvSpPr>
          <p:nvPr/>
        </p:nvSpPr>
        <p:spPr>
          <a:xfrm>
            <a:off x="9401175" y="4429125"/>
            <a:ext cx="8667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0.826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58772C8-94ED-4C25-ACDF-9B2F91987CEC}"/>
              </a:ext>
            </a:extLst>
          </p:cNvPr>
          <p:cNvSpPr>
            <a:spLocks noGrp="1"/>
          </p:cNvSpPr>
          <p:nvPr/>
        </p:nvSpPr>
        <p:spPr>
          <a:xfrm>
            <a:off x="781050" y="504825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Ensemble: highest test AUC after rounding. Tree: highest test F2. Model choice depends on the intended error trade-off.</a:t>
            </a:r>
          </a:p>
        </p:txBody>
      </p:sp>
    </p:spTree>
    <p:extLst>
      <p:ext uri="{BB962C8B-B14F-4D97-AF65-F5344CB8AC3E}">
        <p14:creationId xmlns:p14="http://schemas.microsoft.com/office/powerpoint/2010/main" val="183153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B5EFEEE-618E-4D32-9316-6728AE1013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D62E40-E456-4B21-8E15-7C250CBEC1E4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/>
          </a:bodyPr>
          <a:lstStyle/>
          <a:p>
            <a:pPr algn="l">
              <a:def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HELD-OUT TEST RESULTS | THRESHOLD 0.17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0B3A8D-3DB1-46A2-9235-7B4467D04B4F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Soft-voting ensemble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14698D-B079-4997-9CC8-A515857E1DFC}"/>
              </a:ext>
            </a:extLst>
          </p:cNvPr>
          <p:cNvSpPr>
            <a:spLocks noGrp="1"/>
          </p:cNvSpPr>
          <p:nvPr/>
        </p:nvSpPr>
        <p:spPr>
          <a:xfrm>
            <a:off x="590550" y="6191250"/>
            <a:ext cx="11010900" cy="9525"/>
          </a:xfrm>
          <a:prstGeom prst="rect">
            <a:avLst/>
          </a:prstGeom>
          <a:solidFill>
            <a:srgbClr val="D9E0E8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EBED73-7FDB-4413-9DBC-ECA3DFFB9057}"/>
              </a:ext>
            </a:extLst>
          </p:cNvPr>
          <p:cNvSpPr>
            <a:spLocks noGrp="1"/>
          </p:cNvSpPr>
          <p:nvPr/>
        </p:nvSpPr>
        <p:spPr>
          <a:xfrm>
            <a:off x="590550" y="6286500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SIT Nagpur | OASIS CDR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9EAEBD-2355-4895-92B2-2618D548456E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6DBA30-520F-4AE6-B1D3-CF92D443DEE7}"/>
              </a:ext>
            </a:extLst>
          </p:cNvPr>
          <p:cNvSpPr>
            <a:spLocks noGrp="1"/>
          </p:cNvSpPr>
          <p:nvPr/>
        </p:nvSpPr>
        <p:spPr>
          <a:xfrm>
            <a:off x="781050" y="131445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l">
              <a:defRPr sz="1350" b="1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Actual CDR group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8A7033-E733-4652-981D-9A608504A7D4}"/>
              </a:ext>
            </a:extLst>
          </p:cNvPr>
          <p:cNvSpPr>
            <a:spLocks noGrp="1"/>
          </p:cNvSpPr>
          <p:nvPr/>
        </p:nvSpPr>
        <p:spPr>
          <a:xfrm>
            <a:off x="3810000" y="16954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Predicted CDR 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F4AC7E-9F62-43BA-BCAC-90D8F41DD2FB}"/>
              </a:ext>
            </a:extLst>
          </p:cNvPr>
          <p:cNvSpPr>
            <a:spLocks noGrp="1"/>
          </p:cNvSpPr>
          <p:nvPr/>
        </p:nvSpPr>
        <p:spPr>
          <a:xfrm>
            <a:off x="6381750" y="16954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Predicted CDR &gt;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A188B8-7D2C-4FCF-B2D3-EBD23A6C0C51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Actual CDR 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5971AD-2E73-417E-99A2-560C2404161E}"/>
              </a:ext>
            </a:extLst>
          </p:cNvPr>
          <p:cNvSpPr>
            <a:spLocks noGrp="1"/>
          </p:cNvSpPr>
          <p:nvPr/>
        </p:nvSpPr>
        <p:spPr>
          <a:xfrm>
            <a:off x="1047750" y="3571875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Actual CDR &gt; 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9426F6-B40C-416B-935A-F48290296ADD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2571750" cy="952500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7C2854-58E4-43EB-B8C6-10EDE92A4201}"/>
              </a:ext>
            </a:extLst>
          </p:cNvPr>
          <p:cNvSpPr>
            <a:spLocks noGrp="1"/>
          </p:cNvSpPr>
          <p:nvPr/>
        </p:nvSpPr>
        <p:spPr>
          <a:xfrm>
            <a:off x="3714750" y="2305050"/>
            <a:ext cx="2571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TN 16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AA1925-497E-4CC5-A71A-733F9518A51B}"/>
              </a:ext>
            </a:extLst>
          </p:cNvPr>
          <p:cNvSpPr>
            <a:spLocks noGrp="1"/>
          </p:cNvSpPr>
          <p:nvPr/>
        </p:nvSpPr>
        <p:spPr>
          <a:xfrm>
            <a:off x="6381750" y="2095500"/>
            <a:ext cx="2857500" cy="952500"/>
          </a:xfrm>
          <a:prstGeom prst="rect">
            <a:avLst/>
          </a:prstGeom>
          <a:solidFill>
            <a:srgbClr val="FFF1F3"/>
          </a:solidFill>
          <a:ln w="9525">
            <a:solidFill>
              <a:srgbClr val="D9E0E8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B28D3E-3BA4-43BD-B85E-05B3B9525526}"/>
              </a:ext>
            </a:extLst>
          </p:cNvPr>
          <p:cNvSpPr>
            <a:spLocks noGrp="1"/>
          </p:cNvSpPr>
          <p:nvPr/>
        </p:nvSpPr>
        <p:spPr>
          <a:xfrm>
            <a:off x="6381750" y="23050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FP 11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1056B-0FA1-4512-A646-004E8574311C}"/>
              </a:ext>
            </a:extLst>
          </p:cNvPr>
          <p:cNvSpPr>
            <a:spLocks noGrp="1"/>
          </p:cNvSpPr>
          <p:nvPr/>
        </p:nvSpPr>
        <p:spPr>
          <a:xfrm>
            <a:off x="3714750" y="3143250"/>
            <a:ext cx="2571750" cy="952500"/>
          </a:xfrm>
          <a:prstGeom prst="rect">
            <a:avLst/>
          </a:prstGeom>
          <a:solidFill>
            <a:srgbClr val="FFF4E5"/>
          </a:solidFill>
          <a:ln w="9525">
            <a:solidFill>
              <a:srgbClr val="D9E0E8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83B082-99EE-448C-809C-A15227690142}"/>
              </a:ext>
            </a:extLst>
          </p:cNvPr>
          <p:cNvSpPr>
            <a:spLocks noGrp="1"/>
          </p:cNvSpPr>
          <p:nvPr/>
        </p:nvSpPr>
        <p:spPr>
          <a:xfrm>
            <a:off x="3714750" y="3352800"/>
            <a:ext cx="2571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F4A261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F4A261"/>
                </a:solidFill>
                <a:latin typeface="Helvetica"/>
                <a:ea typeface="Helvetica"/>
                <a:cs typeface="Helvetica"/>
              </a:rPr>
              <a:t>FN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7C67A7-F3CC-4252-9CF7-5BD15DDA33FD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2857500" cy="952500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7F49B3-12FF-42B0-8230-6D2EB5AEA6AB}"/>
              </a:ext>
            </a:extLst>
          </p:cNvPr>
          <p:cNvSpPr>
            <a:spLocks noGrp="1"/>
          </p:cNvSpPr>
          <p:nvPr/>
        </p:nvSpPr>
        <p:spPr>
          <a:xfrm>
            <a:off x="6381750" y="33528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TP 18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D92865-3A59-4E67-808F-114C68573EAF}"/>
              </a:ext>
            </a:extLst>
          </p:cNvPr>
          <p:cNvSpPr>
            <a:spLocks noGrp="1"/>
          </p:cNvSpPr>
          <p:nvPr/>
        </p:nvSpPr>
        <p:spPr>
          <a:xfrm>
            <a:off x="1000125" y="45720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 algn="l">
              <a:defRPr sz="16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Recall 0.900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503F94-91D5-47D8-95B0-505169C09755}"/>
              </a:ext>
            </a:extLst>
          </p:cNvPr>
          <p:cNvSpPr>
            <a:spLocks noGrp="1"/>
          </p:cNvSpPr>
          <p:nvPr/>
        </p:nvSpPr>
        <p:spPr>
          <a:xfrm>
            <a:off x="4095750" y="45720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 algn="l">
              <a:defRPr sz="16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Specificity 0.593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F8919A-1E4E-4BA4-8BA7-F4415E304DA3}"/>
              </a:ext>
            </a:extLst>
          </p:cNvPr>
          <p:cNvSpPr>
            <a:spLocks noGrp="1"/>
          </p:cNvSpPr>
          <p:nvPr/>
        </p:nvSpPr>
        <p:spPr>
          <a:xfrm>
            <a:off x="8001000" y="45720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 algn="l">
              <a:defRPr sz="16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F2 0.826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338F88-D8B4-48A3-AA91-A25A1880ECEA}"/>
              </a:ext>
            </a:extLst>
          </p:cNvPr>
          <p:cNvSpPr>
            <a:spLocks noGrp="1"/>
          </p:cNvSpPr>
          <p:nvPr/>
        </p:nvSpPr>
        <p:spPr>
          <a:xfrm>
            <a:off x="1000125" y="521970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Only 47 test records. Estimates can change substantially with a different split.</a:t>
            </a:r>
          </a:p>
        </p:txBody>
      </p:sp>
    </p:spTree>
    <p:extLst>
      <p:ext uri="{BB962C8B-B14F-4D97-AF65-F5344CB8AC3E}">
        <p14:creationId xmlns:p14="http://schemas.microsoft.com/office/powerpoint/2010/main" val="1137576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52801A3-1833-470D-B869-B8B8146098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BD73DA-0E2F-45AF-9973-4D021EB0F958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/>
          </a:bodyPr>
          <a:lstStyle/>
          <a:p>
            <a:pPr algn="l">
              <a:def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DESCRIPTIVE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6902E0-B820-461A-8B90-918C17DE5D5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Observed group patterns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BDCF93-18E0-499C-9CE4-A6FF86AB99F8}"/>
              </a:ext>
            </a:extLst>
          </p:cNvPr>
          <p:cNvSpPr>
            <a:spLocks noGrp="1"/>
          </p:cNvSpPr>
          <p:nvPr/>
        </p:nvSpPr>
        <p:spPr>
          <a:xfrm>
            <a:off x="590550" y="6191250"/>
            <a:ext cx="11010900" cy="9525"/>
          </a:xfrm>
          <a:prstGeom prst="rect">
            <a:avLst/>
          </a:prstGeom>
          <a:solidFill>
            <a:srgbClr val="D9E0E8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E5E8F-B9EF-4252-B0B3-D5505991A0B7}"/>
              </a:ext>
            </a:extLst>
          </p:cNvPr>
          <p:cNvSpPr>
            <a:spLocks noGrp="1"/>
          </p:cNvSpPr>
          <p:nvPr/>
        </p:nvSpPr>
        <p:spPr>
          <a:xfrm>
            <a:off x="590550" y="6286500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SIT Nagpur | OASIS CDR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BEDEC-4C88-4C21-90BA-736D3AC5456B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1C92E-0042-498D-8F7A-3396BFAD3FBE}"/>
              </a:ext>
            </a:extLst>
          </p:cNvPr>
          <p:cNvSpPr>
            <a:spLocks noGrp="1"/>
          </p:cNvSpPr>
          <p:nvPr/>
        </p:nvSpPr>
        <p:spPr>
          <a:xfrm>
            <a:off x="781050" y="1257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/>
          </a:bodyPr>
          <a:lstStyle/>
          <a:p>
            <a:pPr algn="l">
              <a:def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Median values among rows with recorded CDR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BD4187-F9A0-4094-AE87-D36986927AD0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3429000" cy="4095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081A02-7A4D-453C-827C-685659DE1D43}"/>
              </a:ext>
            </a:extLst>
          </p:cNvPr>
          <p:cNvSpPr>
            <a:spLocks noGrp="1"/>
          </p:cNvSpPr>
          <p:nvPr/>
        </p:nvSpPr>
        <p:spPr>
          <a:xfrm>
            <a:off x="1047750" y="18192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74"/>
          </a:bodyPr>
          <a:lstStyle/>
          <a:p>
            <a:pPr algn="l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Measure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B4E299-9320-475A-A48D-F9264623CCE8}"/>
              </a:ext>
            </a:extLst>
          </p:cNvPr>
          <p:cNvSpPr>
            <a:spLocks noGrp="1"/>
          </p:cNvSpPr>
          <p:nvPr/>
        </p:nvSpPr>
        <p:spPr>
          <a:xfrm>
            <a:off x="4762500" y="1762125"/>
            <a:ext cx="2286000" cy="4095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F94A9F-4A5E-4624-A246-D18C0AA1AD20}"/>
              </a:ext>
            </a:extLst>
          </p:cNvPr>
          <p:cNvSpPr>
            <a:spLocks noGrp="1"/>
          </p:cNvSpPr>
          <p:nvPr/>
        </p:nvSpPr>
        <p:spPr>
          <a:xfrm>
            <a:off x="4857750" y="1819275"/>
            <a:ext cx="2095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74"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CDR = 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569059-BB0A-4186-805A-58B969D343BB}"/>
              </a:ext>
            </a:extLst>
          </p:cNvPr>
          <p:cNvSpPr>
            <a:spLocks noGrp="1"/>
          </p:cNvSpPr>
          <p:nvPr/>
        </p:nvSpPr>
        <p:spPr>
          <a:xfrm>
            <a:off x="7524750" y="1762125"/>
            <a:ext cx="2286000" cy="4095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AA11D2-1571-4545-AC73-50CDC9AFD58C}"/>
              </a:ext>
            </a:extLst>
          </p:cNvPr>
          <p:cNvSpPr>
            <a:spLocks noGrp="1"/>
          </p:cNvSpPr>
          <p:nvPr/>
        </p:nvSpPr>
        <p:spPr>
          <a:xfrm>
            <a:off x="7620000" y="1819275"/>
            <a:ext cx="2095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74"/>
          </a:bodyPr>
          <a:lstStyle/>
          <a:p>
            <a:pPr algn="ctr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CDR &gt; 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588C7B-2EEE-4E0A-B217-3A01F96F76FD}"/>
              </a:ext>
            </a:extLst>
          </p:cNvPr>
          <p:cNvSpPr>
            <a:spLocks noGrp="1"/>
          </p:cNvSpPr>
          <p:nvPr/>
        </p:nvSpPr>
        <p:spPr>
          <a:xfrm>
            <a:off x="952500" y="2171700"/>
            <a:ext cx="3429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BC13D5-01DA-419A-B350-BCB986B10CC7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Age (years)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85B54E-FB6B-4C7D-899C-956EE9C09C62}"/>
              </a:ext>
            </a:extLst>
          </p:cNvPr>
          <p:cNvSpPr>
            <a:spLocks noGrp="1"/>
          </p:cNvSpPr>
          <p:nvPr/>
        </p:nvSpPr>
        <p:spPr>
          <a:xfrm>
            <a:off x="4762500" y="2171700"/>
            <a:ext cx="2286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A5D399-2CDE-468D-B9E1-5F1198B1C86D}"/>
              </a:ext>
            </a:extLst>
          </p:cNvPr>
          <p:cNvSpPr>
            <a:spLocks noGrp="1"/>
          </p:cNvSpPr>
          <p:nvPr/>
        </p:nvSpPr>
        <p:spPr>
          <a:xfrm>
            <a:off x="4857750" y="22479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71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BD19D1-8374-49A1-83F7-338AB72F2A71}"/>
              </a:ext>
            </a:extLst>
          </p:cNvPr>
          <p:cNvSpPr>
            <a:spLocks noGrp="1"/>
          </p:cNvSpPr>
          <p:nvPr/>
        </p:nvSpPr>
        <p:spPr>
          <a:xfrm>
            <a:off x="7524750" y="2171700"/>
            <a:ext cx="2286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C0233A-C2C2-47DD-BB59-291F8D75690A}"/>
              </a:ext>
            </a:extLst>
          </p:cNvPr>
          <p:cNvSpPr>
            <a:spLocks noGrp="1"/>
          </p:cNvSpPr>
          <p:nvPr/>
        </p:nvSpPr>
        <p:spPr>
          <a:xfrm>
            <a:off x="7620000" y="22479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77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71024F-953A-4133-93CC-002F56C9C89F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3429000" cy="52387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EF5472-08DC-4520-9F13-73D9458F8240}"/>
              </a:ext>
            </a:extLst>
          </p:cNvPr>
          <p:cNvSpPr>
            <a:spLocks noGrp="1"/>
          </p:cNvSpPr>
          <p:nvPr/>
        </p:nvSpPr>
        <p:spPr>
          <a:xfrm>
            <a:off x="1047750" y="28003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MMSE score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365B3E-845C-443F-AEB5-BD861C9DEE22}"/>
              </a:ext>
            </a:extLst>
          </p:cNvPr>
          <p:cNvSpPr>
            <a:spLocks noGrp="1"/>
          </p:cNvSpPr>
          <p:nvPr/>
        </p:nvSpPr>
        <p:spPr>
          <a:xfrm>
            <a:off x="4762500" y="2724150"/>
            <a:ext cx="2286000" cy="52387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834193-F5D5-43D3-BD01-94159E9E1914}"/>
              </a:ext>
            </a:extLst>
          </p:cNvPr>
          <p:cNvSpPr>
            <a:spLocks noGrp="1"/>
          </p:cNvSpPr>
          <p:nvPr/>
        </p:nvSpPr>
        <p:spPr>
          <a:xfrm>
            <a:off x="4857750" y="280035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29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59ECCF-D1B9-4C3F-A658-58935BE03542}"/>
              </a:ext>
            </a:extLst>
          </p:cNvPr>
          <p:cNvSpPr>
            <a:spLocks noGrp="1"/>
          </p:cNvSpPr>
          <p:nvPr/>
        </p:nvSpPr>
        <p:spPr>
          <a:xfrm>
            <a:off x="7524750" y="2724150"/>
            <a:ext cx="2286000" cy="52387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C6DDAD-5048-408A-931E-1AFEF1B4BE49}"/>
              </a:ext>
            </a:extLst>
          </p:cNvPr>
          <p:cNvSpPr>
            <a:spLocks noGrp="1"/>
          </p:cNvSpPr>
          <p:nvPr/>
        </p:nvSpPr>
        <p:spPr>
          <a:xfrm>
            <a:off x="7620000" y="280035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26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BB04D4-6651-4081-9694-05614C925996}"/>
              </a:ext>
            </a:extLst>
          </p:cNvPr>
          <p:cNvSpPr>
            <a:spLocks noGrp="1"/>
          </p:cNvSpPr>
          <p:nvPr/>
        </p:nvSpPr>
        <p:spPr>
          <a:xfrm>
            <a:off x="952500" y="3276600"/>
            <a:ext cx="3429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FB6F0C-C8C1-4858-946A-7A6E738E9B4E}"/>
              </a:ext>
            </a:extLst>
          </p:cNvPr>
          <p:cNvSpPr>
            <a:spLocks noGrp="1"/>
          </p:cNvSpPr>
          <p:nvPr/>
        </p:nvSpPr>
        <p:spPr>
          <a:xfrm>
            <a:off x="1047750" y="335280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nWBV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C337C9-B8C1-4ACC-9872-1A8E1A184100}"/>
              </a:ext>
            </a:extLst>
          </p:cNvPr>
          <p:cNvSpPr>
            <a:spLocks noGrp="1"/>
          </p:cNvSpPr>
          <p:nvPr/>
        </p:nvSpPr>
        <p:spPr>
          <a:xfrm>
            <a:off x="4762500" y="3276600"/>
            <a:ext cx="2286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979411-820E-4A8A-B9FC-59C2307E691B}"/>
              </a:ext>
            </a:extLst>
          </p:cNvPr>
          <p:cNvSpPr>
            <a:spLocks noGrp="1"/>
          </p:cNvSpPr>
          <p:nvPr/>
        </p:nvSpPr>
        <p:spPr>
          <a:xfrm>
            <a:off x="4857750" y="33528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0.773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934BD8-8BC8-433C-B66A-F1B143A24FBF}"/>
              </a:ext>
            </a:extLst>
          </p:cNvPr>
          <p:cNvSpPr>
            <a:spLocks noGrp="1"/>
          </p:cNvSpPr>
          <p:nvPr/>
        </p:nvSpPr>
        <p:spPr>
          <a:xfrm>
            <a:off x="7524750" y="3276600"/>
            <a:ext cx="2286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024D5E-EFAD-411A-ABA8-ADB82A60B125}"/>
              </a:ext>
            </a:extLst>
          </p:cNvPr>
          <p:cNvSpPr>
            <a:spLocks noGrp="1"/>
          </p:cNvSpPr>
          <p:nvPr/>
        </p:nvSpPr>
        <p:spPr>
          <a:xfrm>
            <a:off x="7620000" y="33528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0.723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66D2CD-39A7-42DC-9E4D-209B363E908E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3429000" cy="52387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1B6033-67D7-45D2-815C-F1151BC3D016}"/>
              </a:ext>
            </a:extLst>
          </p:cNvPr>
          <p:cNvSpPr>
            <a:spLocks noGrp="1"/>
          </p:cNvSpPr>
          <p:nvPr/>
        </p:nvSpPr>
        <p:spPr>
          <a:xfrm>
            <a:off x="1047750" y="39052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eTIV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F327CB-BB23-49AC-BABD-597B1636827E}"/>
              </a:ext>
            </a:extLst>
          </p:cNvPr>
          <p:cNvSpPr>
            <a:spLocks noGrp="1"/>
          </p:cNvSpPr>
          <p:nvPr/>
        </p:nvSpPr>
        <p:spPr>
          <a:xfrm>
            <a:off x="4762500" y="3829050"/>
            <a:ext cx="2286000" cy="52387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E3A453D-24BA-4050-A5F6-4477FFB8E871}"/>
              </a:ext>
            </a:extLst>
          </p:cNvPr>
          <p:cNvSpPr>
            <a:spLocks noGrp="1"/>
          </p:cNvSpPr>
          <p:nvPr/>
        </p:nvSpPr>
        <p:spPr>
          <a:xfrm>
            <a:off x="4857750" y="390525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1,415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C24C42F-BBA2-4992-B3F8-5F8A9FB9F181}"/>
              </a:ext>
            </a:extLst>
          </p:cNvPr>
          <p:cNvSpPr>
            <a:spLocks noGrp="1"/>
          </p:cNvSpPr>
          <p:nvPr/>
        </p:nvSpPr>
        <p:spPr>
          <a:xfrm>
            <a:off x="7524750" y="3829050"/>
            <a:ext cx="2286000" cy="523875"/>
          </a:xfrm>
          <a:prstGeom prst="rect">
            <a:avLst/>
          </a:prstGeom>
          <a:solidFill>
            <a:srgbClr val="EEF4FA"/>
          </a:solidFill>
          <a:ln w="9525">
            <a:solidFill>
              <a:srgbClr val="D9E0E8"/>
            </a:solidFill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EAE340-E1E7-4F00-806D-ED0B12C4EA88}"/>
              </a:ext>
            </a:extLst>
          </p:cNvPr>
          <p:cNvSpPr>
            <a:spLocks noGrp="1"/>
          </p:cNvSpPr>
          <p:nvPr/>
        </p:nvSpPr>
        <p:spPr>
          <a:xfrm>
            <a:off x="7620000" y="390525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1,464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52E847-AEF1-46D5-82CE-BADE7C096F1C}"/>
              </a:ext>
            </a:extLst>
          </p:cNvPr>
          <p:cNvSpPr>
            <a:spLocks noGrp="1"/>
          </p:cNvSpPr>
          <p:nvPr/>
        </p:nvSpPr>
        <p:spPr>
          <a:xfrm>
            <a:off x="952500" y="4714875"/>
            <a:ext cx="8858250" cy="876300"/>
          </a:xfrm>
          <a:prstGeom prst="rect">
            <a:avLst/>
          </a:prstGeom>
          <a:solidFill>
            <a:srgbClr val="FFF1F3"/>
          </a:solidFill>
          <a:ln w="0">
            <a:noFill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2E6C792-D847-44C3-95D5-333640D9347B}"/>
              </a:ext>
            </a:extLst>
          </p:cNvPr>
          <p:cNvSpPr>
            <a:spLocks noGrp="1"/>
          </p:cNvSpPr>
          <p:nvPr/>
        </p:nvSpPr>
        <p:spPr>
          <a:xfrm>
            <a:off x="1162050" y="4857750"/>
            <a:ext cx="84296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These are sample medians, not causal effects. MMSE overlaps with cognitive status and should be treated as a contemporaneous feature.</a:t>
            </a:r>
          </a:p>
        </p:txBody>
      </p:sp>
    </p:spTree>
    <p:extLst>
      <p:ext uri="{BB962C8B-B14F-4D97-AF65-F5344CB8AC3E}">
        <p14:creationId xmlns:p14="http://schemas.microsoft.com/office/powerpoint/2010/main" val="862223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2CD96AD-E040-457A-B674-6D596E2480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ED1260-8E85-4202-9E9A-5FA2EDB1BCC8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/>
          </a:bodyPr>
          <a:lstStyle/>
          <a:p>
            <a:pPr algn="l">
              <a:def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HEALTHCARE ANALYTICS | MINI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0FCAC6-2351-4685-81F7-7D1D5993134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Limitations and next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72134C-E59D-423F-AB79-3174E9187F13}"/>
              </a:ext>
            </a:extLst>
          </p:cNvPr>
          <p:cNvSpPr>
            <a:spLocks noGrp="1"/>
          </p:cNvSpPr>
          <p:nvPr/>
        </p:nvSpPr>
        <p:spPr>
          <a:xfrm>
            <a:off x="590550" y="6191250"/>
            <a:ext cx="11010900" cy="9525"/>
          </a:xfrm>
          <a:prstGeom prst="rect">
            <a:avLst/>
          </a:prstGeom>
          <a:solidFill>
            <a:srgbClr val="D9E0E8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A167A8-FF26-454E-8D71-5EBD402D2CB4}"/>
              </a:ext>
            </a:extLst>
          </p:cNvPr>
          <p:cNvSpPr>
            <a:spLocks noGrp="1"/>
          </p:cNvSpPr>
          <p:nvPr/>
        </p:nvSpPr>
        <p:spPr>
          <a:xfrm>
            <a:off x="590550" y="6286500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SIT Nagpur | OASIS CDR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311E76-DAB0-4AC7-B50F-EB5F368E3AF5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D857EE-D723-4864-965A-108F212AFC8F}"/>
              </a:ext>
            </a:extLst>
          </p:cNvPr>
          <p:cNvSpPr>
            <a:spLocks noGrp="1"/>
          </p:cNvSpPr>
          <p:nvPr/>
        </p:nvSpPr>
        <p:spPr>
          <a:xfrm>
            <a:off x="781050" y="1390650"/>
            <a:ext cx="2381250" cy="685800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64C2CA-CF92-48D9-BC65-F45735653F2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667"/>
          </a:bodyPr>
          <a:lstStyle/>
          <a:p>
            <a:pPr algn="l">
              <a:def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201 / 436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E7620-BDE7-4BD3-B51C-FADE809855A9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 algn="l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rows have missing CDR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7EA9B9-5880-4AC0-B747-8A894275913A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2381250" cy="685800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F817B3-0A2A-44FC-BA22-EDF3624C5D27}"/>
              </a:ext>
            </a:extLst>
          </p:cNvPr>
          <p:cNvSpPr>
            <a:spLocks noGrp="1"/>
          </p:cNvSpPr>
          <p:nvPr/>
        </p:nvSpPr>
        <p:spPr>
          <a:xfrm>
            <a:off x="933450" y="24003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667"/>
          </a:bodyPr>
          <a:lstStyle/>
          <a:p>
            <a:pPr algn="l">
              <a:def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47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CA5AEC-BC32-422A-AFFF-6C895B160461}"/>
              </a:ext>
            </a:extLst>
          </p:cNvPr>
          <p:cNvSpPr>
            <a:spLocks noGrp="1"/>
          </p:cNvSpPr>
          <p:nvPr/>
        </p:nvSpPr>
        <p:spPr>
          <a:xfrm>
            <a:off x="933450" y="269557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 algn="l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test rows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F1DA4-60C5-4DD5-BC34-F0F9DA5AA642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2381250" cy="685800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1DD0D2-EA3B-4C5F-A887-B0F7EC2DCADB}"/>
              </a:ext>
            </a:extLst>
          </p:cNvPr>
          <p:cNvSpPr>
            <a:spLocks noGrp="1"/>
          </p:cNvSpPr>
          <p:nvPr/>
        </p:nvSpPr>
        <p:spPr>
          <a:xfrm>
            <a:off x="933450" y="33432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667"/>
          </a:bodyPr>
          <a:lstStyle/>
          <a:p>
            <a:pPr algn="l">
              <a:def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1 split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654516-9C5F-4E4C-8684-C3CF8758E88C}"/>
              </a:ext>
            </a:extLst>
          </p:cNvPr>
          <p:cNvSpPr>
            <a:spLocks noGrp="1"/>
          </p:cNvSpPr>
          <p:nvPr/>
        </p:nvSpPr>
        <p:spPr>
          <a:xfrm>
            <a:off x="933450" y="36385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 algn="l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reported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338F81-1424-473F-9499-ADEF1121483D}"/>
              </a:ext>
            </a:extLst>
          </p:cNvPr>
          <p:cNvSpPr>
            <a:spLocks noGrp="1"/>
          </p:cNvSpPr>
          <p:nvPr/>
        </p:nvSpPr>
        <p:spPr>
          <a:xfrm>
            <a:off x="781050" y="4219575"/>
            <a:ext cx="2381250" cy="685800"/>
          </a:xfrm>
          <a:prstGeom prst="rect">
            <a:avLst/>
          </a:prstGeom>
          <a:solidFill>
            <a:srgbClr val="FFF1F3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082A1D-5B71-4075-87EC-EA731271107E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667"/>
          </a:bodyPr>
          <a:lstStyle/>
          <a:p>
            <a:pPr algn="l">
              <a:defRPr sz="1500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MMSE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E66218-15DA-49B7-B004-015F8A7008BA}"/>
              </a:ext>
            </a:extLst>
          </p:cNvPr>
          <p:cNvSpPr>
            <a:spLocks noGrp="1"/>
          </p:cNvSpPr>
          <p:nvPr/>
        </p:nvSpPr>
        <p:spPr>
          <a:xfrm>
            <a:off x="933450" y="458152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 algn="l">
              <a:def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measured alongside CDR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A7ADE-D74D-4923-A551-FDFFFFFE7E05}"/>
              </a:ext>
            </a:extLst>
          </p:cNvPr>
          <p:cNvSpPr>
            <a:spLocks noGrp="1"/>
          </p:cNvSpPr>
          <p:nvPr/>
        </p:nvSpPr>
        <p:spPr>
          <a:xfrm>
            <a:off x="3857625" y="1362075"/>
            <a:ext cx="666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59"/>
          </a:bodyPr>
          <a:lstStyle/>
          <a:p>
            <a:pPr algn="l">
              <a:defRPr sz="172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Next steps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4C75CB-3F3E-497F-BECD-5FD3ADCDAAC4}"/>
              </a:ext>
            </a:extLst>
          </p:cNvPr>
          <p:cNvSpPr>
            <a:spLocks noGrp="1"/>
          </p:cNvSpPr>
          <p:nvPr/>
        </p:nvSpPr>
        <p:spPr>
          <a:xfrm>
            <a:off x="3857625" y="18764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l">
              <a:defRPr sz="1350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B15E77-2437-43F0-A30E-E270F5DED15D}"/>
              </a:ext>
            </a:extLst>
          </p:cNvPr>
          <p:cNvSpPr>
            <a:spLocks noGrp="1"/>
          </p:cNvSpPr>
          <p:nvPr/>
        </p:nvSpPr>
        <p:spPr>
          <a:xfrm>
            <a:off x="4429125" y="1819275"/>
            <a:ext cx="6286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Repeat stratified cross-validation and report variation.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E2A959-1679-4B18-B0BE-1BDA6D508C65}"/>
              </a:ext>
            </a:extLst>
          </p:cNvPr>
          <p:cNvSpPr>
            <a:spLocks noGrp="1"/>
          </p:cNvSpPr>
          <p:nvPr/>
        </p:nvSpPr>
        <p:spPr>
          <a:xfrm>
            <a:off x="3857625" y="254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l">
              <a:defRPr sz="1350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890FF1-37E6-4B73-8F97-253935E06395}"/>
              </a:ext>
            </a:extLst>
          </p:cNvPr>
          <p:cNvSpPr>
            <a:spLocks noGrp="1"/>
          </p:cNvSpPr>
          <p:nvPr/>
        </p:nvSpPr>
        <p:spPr>
          <a:xfrm>
            <a:off x="4429125" y="2486025"/>
            <a:ext cx="6286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Review calibration and subgroup performance.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FEC90E-B9D2-4475-9A40-C662BF0229B6}"/>
              </a:ext>
            </a:extLst>
          </p:cNvPr>
          <p:cNvSpPr>
            <a:spLocks noGrp="1"/>
          </p:cNvSpPr>
          <p:nvPr/>
        </p:nvSpPr>
        <p:spPr>
          <a:xfrm>
            <a:off x="3857625" y="32099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l">
              <a:defRPr sz="1350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2CB050-C5E7-4DC2-84C1-084AFD33AF65}"/>
              </a:ext>
            </a:extLst>
          </p:cNvPr>
          <p:cNvSpPr>
            <a:spLocks noGrp="1"/>
          </p:cNvSpPr>
          <p:nvPr/>
        </p:nvSpPr>
        <p:spPr>
          <a:xfrm>
            <a:off x="4429125" y="3152775"/>
            <a:ext cx="6286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Seek independent validation before any practical claims.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21E54A-80A0-486B-BC65-C6431EED6B77}"/>
              </a:ext>
            </a:extLst>
          </p:cNvPr>
          <p:cNvSpPr>
            <a:spLocks noGrp="1"/>
          </p:cNvSpPr>
          <p:nvPr/>
        </p:nvSpPr>
        <p:spPr>
          <a:xfrm>
            <a:off x="3857625" y="38766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l">
              <a:defRPr sz="1350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C4C72C-8112-4C5C-8340-D4D38E1F5B77}"/>
              </a:ext>
            </a:extLst>
          </p:cNvPr>
          <p:cNvSpPr>
            <a:spLocks noGrp="1"/>
          </p:cNvSpPr>
          <p:nvPr/>
        </p:nvSpPr>
        <p:spPr>
          <a:xfrm>
            <a:off x="4429125" y="3819525"/>
            <a:ext cx="6286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Write conclusions with course mentors and qualified stakeholders.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4DF391-F061-482B-A078-7D27D0D0C72F}"/>
              </a:ext>
            </a:extLst>
          </p:cNvPr>
          <p:cNvSpPr>
            <a:spLocks noGrp="1"/>
          </p:cNvSpPr>
          <p:nvPr/>
        </p:nvSpPr>
        <p:spPr>
          <a:xfrm>
            <a:off x="3857625" y="485775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This classroom analysis is not a deployed clinical screening tool.</a:t>
            </a:r>
          </a:p>
        </p:txBody>
      </p:sp>
    </p:spTree>
    <p:extLst>
      <p:ext uri="{BB962C8B-B14F-4D97-AF65-F5344CB8AC3E}">
        <p14:creationId xmlns:p14="http://schemas.microsoft.com/office/powerpoint/2010/main" val="1029982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DDA236-A9E9-4D62-890F-CE24AAFBA3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C3BA2E-287F-473E-B546-D1459750E532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/>
          </a:bodyPr>
          <a:lstStyle/>
          <a:p>
            <a:pPr algn="l">
              <a:def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NOVELTY | DISCUSSION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8AE436-CFC7-4847-908E-DF6E79E6589F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Project contribution and student explanation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D289D6-2EC5-41DD-920D-BCB492F65F32}"/>
              </a:ext>
            </a:extLst>
          </p:cNvPr>
          <p:cNvSpPr>
            <a:spLocks noGrp="1"/>
          </p:cNvSpPr>
          <p:nvPr/>
        </p:nvSpPr>
        <p:spPr>
          <a:xfrm>
            <a:off x="590550" y="6191250"/>
            <a:ext cx="11010900" cy="9525"/>
          </a:xfrm>
          <a:prstGeom prst="rect">
            <a:avLst/>
          </a:prstGeom>
          <a:solidFill>
            <a:srgbClr val="D9E0E8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BA86B-6496-42A0-8D37-063A98F5E3C7}"/>
              </a:ext>
            </a:extLst>
          </p:cNvPr>
          <p:cNvSpPr>
            <a:spLocks noGrp="1"/>
          </p:cNvSpPr>
          <p:nvPr/>
        </p:nvSpPr>
        <p:spPr>
          <a:xfrm>
            <a:off x="590550" y="6286500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SIT Nagpur | OASIS CDR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A9B2EA-6A63-42E2-A6CF-51307F98D906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96A1D5-F862-43B1-B6BA-D39FCD0D13B5}"/>
              </a:ext>
            </a:extLst>
          </p:cNvPr>
          <p:cNvSpPr>
            <a:spLocks noGrp="1"/>
          </p:cNvSpPr>
          <p:nvPr/>
        </p:nvSpPr>
        <p:spPr>
          <a:xfrm>
            <a:off x="781050" y="1285875"/>
            <a:ext cx="4762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921"/>
          </a:bodyPr>
          <a:lstStyle/>
          <a:p>
            <a:pPr algn="l">
              <a:defRPr sz="157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Project contribution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F91F1B-2E5A-468C-A7D3-59F174C4FE61}"/>
              </a:ext>
            </a:extLst>
          </p:cNvPr>
          <p:cNvSpPr>
            <a:spLocks noGrp="1"/>
          </p:cNvSpPr>
          <p:nvPr/>
        </p:nvSpPr>
        <p:spPr>
          <a:xfrm>
            <a:off x="781050" y="1685925"/>
            <a:ext cx="10382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 staged feature-block comparison, validation-set threshold selection, and a soft-voting candidate tested against demographic and majority baselines.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23EB95-640B-4DA4-8F2E-E989982CA41F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4762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921"/>
          </a:bodyPr>
          <a:lstStyle/>
          <a:p>
            <a:pPr algn="l">
              <a:defRPr sz="157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Explain in your own words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4BADA6-6482-4419-9DD9-8F0A65F5AFCE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1.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76ED63-7C3F-4BBC-91CF-8292D687AD32}"/>
              </a:ext>
            </a:extLst>
          </p:cNvPr>
          <p:cNvSpPr>
            <a:spLocks noGrp="1"/>
          </p:cNvSpPr>
          <p:nvPr/>
        </p:nvSpPr>
        <p:spPr>
          <a:xfrm>
            <a:off x="1352550" y="32194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Why were rows with missing CDR excluded?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7AC86A-F76E-40C7-84BE-BED7004A9392}"/>
              </a:ext>
            </a:extLst>
          </p:cNvPr>
          <p:cNvSpPr>
            <a:spLocks noGrp="1"/>
          </p:cNvSpPr>
          <p:nvPr/>
        </p:nvSpPr>
        <p:spPr>
          <a:xfrm>
            <a:off x="857250" y="3762375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2.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2DACC1-0E7E-4F5F-A6D8-74BB346CE952}"/>
              </a:ext>
            </a:extLst>
          </p:cNvPr>
          <p:cNvSpPr>
            <a:spLocks noGrp="1"/>
          </p:cNvSpPr>
          <p:nvPr/>
        </p:nvSpPr>
        <p:spPr>
          <a:xfrm>
            <a:off x="1352550" y="37433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What changes when MRI features are added?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CE2206-023F-4AB6-9A90-BD0328C22CB1}"/>
              </a:ext>
            </a:extLst>
          </p:cNvPr>
          <p:cNvSpPr>
            <a:spLocks noGrp="1"/>
          </p:cNvSpPr>
          <p:nvPr/>
        </p:nvSpPr>
        <p:spPr>
          <a:xfrm>
            <a:off x="857250" y="4286250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3.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A075BA-71A8-4D3C-A423-6136F61A50FE}"/>
              </a:ext>
            </a:extLst>
          </p:cNvPr>
          <p:cNvSpPr>
            <a:spLocks noGrp="1"/>
          </p:cNvSpPr>
          <p:nvPr/>
        </p:nvSpPr>
        <p:spPr>
          <a:xfrm>
            <a:off x="1352550" y="426720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Why does MMSE require a caution?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6FDA74-597E-40D7-A4D0-D673F133914B}"/>
              </a:ext>
            </a:extLst>
          </p:cNvPr>
          <p:cNvSpPr>
            <a:spLocks noGrp="1"/>
          </p:cNvSpPr>
          <p:nvPr/>
        </p:nvSpPr>
        <p:spPr>
          <a:xfrm>
            <a:off x="857250" y="4810125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EF476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EF476F"/>
                </a:solidFill>
                <a:latin typeface="Helvetica"/>
                <a:ea typeface="Helvetica"/>
                <a:cs typeface="Helvetica"/>
              </a:rPr>
              <a:t>4.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4E1A44-CD17-4B2F-9E56-26BCEEA9F306}"/>
              </a:ext>
            </a:extLst>
          </p:cNvPr>
          <p:cNvSpPr>
            <a:spLocks noGrp="1"/>
          </p:cNvSpPr>
          <p:nvPr/>
        </p:nvSpPr>
        <p:spPr>
          <a:xfrm>
            <a:off x="1352550" y="479107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What trade-off appears in the ensemble confusion matrix?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6FE155-450A-419C-A69C-8B9F96E60910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Be ready to explain the split, threshold choice, metrics, and limitations from the source code.</a:t>
            </a:r>
          </a:p>
        </p:txBody>
      </p:sp>
    </p:spTree>
    <p:extLst>
      <p:ext uri="{BB962C8B-B14F-4D97-AF65-F5344CB8AC3E}">
        <p14:creationId xmlns:p14="http://schemas.microsoft.com/office/powerpoint/2010/main" val="916337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9B4B70F-5DDA-4D6F-A577-B410158349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4263D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23C9F9-7A48-4FBF-BBF4-90D60B3F0C5E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/>
          </a:bodyPr>
          <a:lstStyle/>
          <a:p>
            <a:pPr algn="l">
              <a:def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A1D692-01C3-4707-9923-A796077016E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Sources and submission checks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A6D4FF-69D9-4DF4-A7CE-2418E75EFE0A}"/>
              </a:ext>
            </a:extLst>
          </p:cNvPr>
          <p:cNvSpPr>
            <a:spLocks noGrp="1"/>
          </p:cNvSpPr>
          <p:nvPr/>
        </p:nvSpPr>
        <p:spPr>
          <a:xfrm>
            <a:off x="590550" y="6191250"/>
            <a:ext cx="11010900" cy="9525"/>
          </a:xfrm>
          <a:prstGeom prst="rect">
            <a:avLst/>
          </a:prstGeom>
          <a:solidFill>
            <a:srgbClr val="D9E0E8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13ADF2-7AA5-487A-9BD7-FFE76E80F530}"/>
              </a:ext>
            </a:extLst>
          </p:cNvPr>
          <p:cNvSpPr>
            <a:spLocks noGrp="1"/>
          </p:cNvSpPr>
          <p:nvPr/>
        </p:nvSpPr>
        <p:spPr>
          <a:xfrm>
            <a:off x="590550" y="6286500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SIT Nagpur | OASIS CDR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B3DD7D-ED00-42BB-8542-0D5F81AC027B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231AA2-12BC-4BED-9488-3AF8B76CD775}"/>
              </a:ext>
            </a:extLst>
          </p:cNvPr>
          <p:cNvSpPr>
            <a:spLocks noGrp="1"/>
          </p:cNvSpPr>
          <p:nvPr/>
        </p:nvSpPr>
        <p:spPr>
          <a:xfrm>
            <a:off x="781050" y="131445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Dataset reference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B82DDA-2FE2-4168-A3E9-2D276BF7E2CA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Marcus et al. (2007). OASIS cross-sectional MRI data. Journal of Cognitive Neuroscience, 19(9), 1498-1507.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C5D9B4-5052-4B5A-B405-9DB765455650}"/>
              </a:ext>
            </a:extLst>
          </p:cNvPr>
          <p:cNvSpPr>
            <a:spLocks noGrp="1"/>
          </p:cNvSpPr>
          <p:nvPr/>
        </p:nvSpPr>
        <p:spPr>
          <a:xfrm>
            <a:off x="781050" y="2276475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https://doi.org/10.1162/jocn.2007.19.9.1498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2C7BDD-565C-4FC6-9C49-54C3701F30BB}"/>
              </a:ext>
            </a:extLst>
          </p:cNvPr>
          <p:cNvSpPr>
            <a:spLocks noGrp="1"/>
          </p:cNvSpPr>
          <p:nvPr/>
        </p:nvSpPr>
        <p:spPr>
          <a:xfrm>
            <a:off x="781050" y="26289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Official OASIS project site: https://sites.wustl.edu/oasisbrains/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15E031-275E-45A6-AC4D-631778209680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3A86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3A86FF"/>
                </a:solidFill>
                <a:latin typeface="Helvetica"/>
                <a:ea typeface="Helvetica"/>
                <a:cs typeface="Helvetica"/>
              </a:rPr>
              <a:t>Before submission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24C6FF-22D6-4D07-BDC3-A0B86AF36AC7}"/>
              </a:ext>
            </a:extLst>
          </p:cNvPr>
          <p:cNvSpPr>
            <a:spLocks noGrp="1"/>
          </p:cNvSpPr>
          <p:nvPr/>
        </p:nvSpPr>
        <p:spPr>
          <a:xfrm>
            <a:off x="952500" y="3714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- Confirm workbook is the Moodle-approved file.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0AE683-E26F-49CB-B5DD-4DC488562C94}"/>
              </a:ext>
            </a:extLst>
          </p:cNvPr>
          <p:cNvSpPr>
            <a:spLocks noGrp="1"/>
          </p:cNvSpPr>
          <p:nvPr/>
        </p:nvSpPr>
        <p:spPr>
          <a:xfrm>
            <a:off x="952500" y="4086225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- Submit the project title through the course form.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4019FC-BBCE-437D-8CAB-625E109E0835}"/>
              </a:ext>
            </a:extLst>
          </p:cNvPr>
          <p:cNvSpPr>
            <a:spLocks noGrp="1"/>
          </p:cNvSpPr>
          <p:nvPr/>
        </p:nvSpPr>
        <p:spPr>
          <a:xfrm>
            <a:off x="952500" y="44577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- Write the report in your own words and cite sources.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D31786-19D3-4108-A385-DEB01A88C686}"/>
              </a:ext>
            </a:extLst>
          </p:cNvPr>
          <p:cNvSpPr>
            <a:spLocks noGrp="1"/>
          </p:cNvSpPr>
          <p:nvPr/>
        </p:nvSpPr>
        <p:spPr>
          <a:xfrm>
            <a:off x="952500" y="4829175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- Create your GitHub repository and add the link.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055B57-CA16-4296-8C76-79CBF6FD691B}"/>
              </a:ext>
            </a:extLst>
          </p:cNvPr>
          <p:cNvSpPr>
            <a:spLocks noGrp="1"/>
          </p:cNvSpPr>
          <p:nvPr/>
        </p:nvSpPr>
        <p:spPr>
          <a:xfrm>
            <a:off x="952500" y="52006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- Run and explain every major code step.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E091EB-75C1-4DFA-A1FC-EC8487BDB287}"/>
              </a:ext>
            </a:extLst>
          </p:cNvPr>
          <p:cNvSpPr>
            <a:spLocks noGrp="1"/>
          </p:cNvSpPr>
          <p:nvPr/>
        </p:nvSpPr>
        <p:spPr>
          <a:xfrm>
            <a:off x="781050" y="5743575"/>
            <a:ext cx="10572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/>
          </a:bodyPr>
          <a:lstStyle/>
          <a:p>
            <a:pPr algn="l">
              <a:defRPr sz="1125" b="1">
                <a:solidFill>
                  <a:srgbClr val="586574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586574"/>
                </a:solidFill>
                <a:latin typeface="Helvetica"/>
                <a:ea typeface="Helvetica"/>
                <a:cs typeface="Helvetica"/>
              </a:rPr>
              <a:t>Proposed form title: Cognitive Status Classification Using OASIS-1 Clinical and MRI Measures</a:t>
            </a:r>
          </a:p>
        </p:txBody>
      </p:sp>
    </p:spTree>
    <p:extLst>
      <p:ext uri="{BB962C8B-B14F-4D97-AF65-F5344CB8AC3E}">
        <p14:creationId xmlns:p14="http://schemas.microsoft.com/office/powerpoint/2010/main" val="4109747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1384</Words>
  <Application>Microsoft Office PowerPoint</Application>
  <DocSecurity>0</DocSecurity>
  <PresentationFormat>Widescreen</PresentationFormat>
  <Paragraphs>264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Helvetica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Atharv jaiswal</cp:lastModifiedBy>
  <cp:revision>1</cp:revision>
  <dcterms:created xsi:type="dcterms:W3CDTF">2026-10-10T11:12:20Z</dcterms:created>
  <dcterms:modified xsi:type="dcterms:W3CDTF">2026-10-10T11:42:51Z</dcterms:modified>
</cp:coreProperties>
</file>